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59" d="100"/>
          <a:sy n="59" d="100"/>
        </p:scale>
        <p:origin x="964"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8BB35B-15DF-1563-E1E6-3845FCA76C0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E3E6EE55-FF90-A823-16A1-6F6450F84EF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6DA645E6-E02A-630E-9E35-B5509852492A}"/>
              </a:ext>
            </a:extLst>
          </p:cNvPr>
          <p:cNvSpPr>
            <a:spLocks noGrp="1"/>
          </p:cNvSpPr>
          <p:nvPr>
            <p:ph type="dt" sz="half" idx="10"/>
          </p:nvPr>
        </p:nvSpPr>
        <p:spPr/>
        <p:txBody>
          <a:bodyPr/>
          <a:lstStyle/>
          <a:p>
            <a:fld id="{420D403A-96C4-4E6D-A71F-8A0C524F883B}" type="datetimeFigureOut">
              <a:rPr lang="en-IN" smtClean="0"/>
              <a:t>06-04-2026</a:t>
            </a:fld>
            <a:endParaRPr lang="en-IN"/>
          </a:p>
        </p:txBody>
      </p:sp>
      <p:sp>
        <p:nvSpPr>
          <p:cNvPr id="5" name="Footer Placeholder 4">
            <a:extLst>
              <a:ext uri="{FF2B5EF4-FFF2-40B4-BE49-F238E27FC236}">
                <a16:creationId xmlns:a16="http://schemas.microsoft.com/office/drawing/2014/main" id="{8D67CFF2-04C4-D152-4B8C-AFED00A055A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AAB12CE-DCE2-96EF-7CEE-8E5D563EEC96}"/>
              </a:ext>
            </a:extLst>
          </p:cNvPr>
          <p:cNvSpPr>
            <a:spLocks noGrp="1"/>
          </p:cNvSpPr>
          <p:nvPr>
            <p:ph type="sldNum" sz="quarter" idx="12"/>
          </p:nvPr>
        </p:nvSpPr>
        <p:spPr/>
        <p:txBody>
          <a:bodyPr/>
          <a:lstStyle/>
          <a:p>
            <a:fld id="{A0FBF9F6-EF0C-42F6-AD23-B39F56094C11}" type="slidenum">
              <a:rPr lang="en-IN" smtClean="0"/>
              <a:t>‹#›</a:t>
            </a:fld>
            <a:endParaRPr lang="en-IN"/>
          </a:p>
        </p:txBody>
      </p:sp>
    </p:spTree>
    <p:extLst>
      <p:ext uri="{BB962C8B-B14F-4D97-AF65-F5344CB8AC3E}">
        <p14:creationId xmlns:p14="http://schemas.microsoft.com/office/powerpoint/2010/main" val="10168189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A16BCA-7DA4-AC5D-DB5B-BF00F775EB7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7EA1BD7-71AC-9349-A609-C51E816F4E9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B8B6FAA-61B0-77BB-CEF0-F1CF07A34D69}"/>
              </a:ext>
            </a:extLst>
          </p:cNvPr>
          <p:cNvSpPr>
            <a:spLocks noGrp="1"/>
          </p:cNvSpPr>
          <p:nvPr>
            <p:ph type="dt" sz="half" idx="10"/>
          </p:nvPr>
        </p:nvSpPr>
        <p:spPr/>
        <p:txBody>
          <a:bodyPr/>
          <a:lstStyle/>
          <a:p>
            <a:fld id="{420D403A-96C4-4E6D-A71F-8A0C524F883B}" type="datetimeFigureOut">
              <a:rPr lang="en-IN" smtClean="0"/>
              <a:t>06-04-2026</a:t>
            </a:fld>
            <a:endParaRPr lang="en-IN"/>
          </a:p>
        </p:txBody>
      </p:sp>
      <p:sp>
        <p:nvSpPr>
          <p:cNvPr id="5" name="Footer Placeholder 4">
            <a:extLst>
              <a:ext uri="{FF2B5EF4-FFF2-40B4-BE49-F238E27FC236}">
                <a16:creationId xmlns:a16="http://schemas.microsoft.com/office/drawing/2014/main" id="{2396C92B-15E0-3E8F-AD28-102BD8E9B89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13FF385-A966-EA8E-0ECE-49D772CAFE8A}"/>
              </a:ext>
            </a:extLst>
          </p:cNvPr>
          <p:cNvSpPr>
            <a:spLocks noGrp="1"/>
          </p:cNvSpPr>
          <p:nvPr>
            <p:ph type="sldNum" sz="quarter" idx="12"/>
          </p:nvPr>
        </p:nvSpPr>
        <p:spPr/>
        <p:txBody>
          <a:bodyPr/>
          <a:lstStyle/>
          <a:p>
            <a:fld id="{A0FBF9F6-EF0C-42F6-AD23-B39F56094C11}" type="slidenum">
              <a:rPr lang="en-IN" smtClean="0"/>
              <a:t>‹#›</a:t>
            </a:fld>
            <a:endParaRPr lang="en-IN"/>
          </a:p>
        </p:txBody>
      </p:sp>
    </p:spTree>
    <p:extLst>
      <p:ext uri="{BB962C8B-B14F-4D97-AF65-F5344CB8AC3E}">
        <p14:creationId xmlns:p14="http://schemas.microsoft.com/office/powerpoint/2010/main" val="32522100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708E79-18B3-6824-A352-5DD67F9E089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FFF9A1D8-509A-42D0-50B0-76D2447C331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9907469-EB53-4791-3819-CB948CDA0E83}"/>
              </a:ext>
            </a:extLst>
          </p:cNvPr>
          <p:cNvSpPr>
            <a:spLocks noGrp="1"/>
          </p:cNvSpPr>
          <p:nvPr>
            <p:ph type="dt" sz="half" idx="10"/>
          </p:nvPr>
        </p:nvSpPr>
        <p:spPr/>
        <p:txBody>
          <a:bodyPr/>
          <a:lstStyle/>
          <a:p>
            <a:fld id="{420D403A-96C4-4E6D-A71F-8A0C524F883B}" type="datetimeFigureOut">
              <a:rPr lang="en-IN" smtClean="0"/>
              <a:t>06-04-2026</a:t>
            </a:fld>
            <a:endParaRPr lang="en-IN"/>
          </a:p>
        </p:txBody>
      </p:sp>
      <p:sp>
        <p:nvSpPr>
          <p:cNvPr id="5" name="Footer Placeholder 4">
            <a:extLst>
              <a:ext uri="{FF2B5EF4-FFF2-40B4-BE49-F238E27FC236}">
                <a16:creationId xmlns:a16="http://schemas.microsoft.com/office/drawing/2014/main" id="{4CB43A63-86B2-56C2-146C-375C09EF77D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DEB58CA-558F-0BA3-2E77-81074CAA5A76}"/>
              </a:ext>
            </a:extLst>
          </p:cNvPr>
          <p:cNvSpPr>
            <a:spLocks noGrp="1"/>
          </p:cNvSpPr>
          <p:nvPr>
            <p:ph type="sldNum" sz="quarter" idx="12"/>
          </p:nvPr>
        </p:nvSpPr>
        <p:spPr/>
        <p:txBody>
          <a:bodyPr/>
          <a:lstStyle/>
          <a:p>
            <a:fld id="{A0FBF9F6-EF0C-42F6-AD23-B39F56094C11}" type="slidenum">
              <a:rPr lang="en-IN" smtClean="0"/>
              <a:t>‹#›</a:t>
            </a:fld>
            <a:endParaRPr lang="en-IN"/>
          </a:p>
        </p:txBody>
      </p:sp>
    </p:spTree>
    <p:extLst>
      <p:ext uri="{BB962C8B-B14F-4D97-AF65-F5344CB8AC3E}">
        <p14:creationId xmlns:p14="http://schemas.microsoft.com/office/powerpoint/2010/main" val="14457675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4720D9-4F99-6D14-D995-CAA15D3F8FD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F599739-08A2-9366-52EB-7D3C17D39C6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F11E9B05-C5F0-60AB-4006-D800F2FCBCB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C5445333-A7F4-9901-56FD-ACDD167DEB4D}"/>
              </a:ext>
            </a:extLst>
          </p:cNvPr>
          <p:cNvSpPr>
            <a:spLocks noGrp="1"/>
          </p:cNvSpPr>
          <p:nvPr>
            <p:ph type="dt" sz="half" idx="10"/>
          </p:nvPr>
        </p:nvSpPr>
        <p:spPr/>
        <p:txBody>
          <a:bodyPr/>
          <a:lstStyle/>
          <a:p>
            <a:fld id="{420D403A-96C4-4E6D-A71F-8A0C524F883B}" type="datetimeFigureOut">
              <a:rPr lang="en-IN" smtClean="0"/>
              <a:t>06-04-2026</a:t>
            </a:fld>
            <a:endParaRPr lang="en-IN"/>
          </a:p>
        </p:txBody>
      </p:sp>
      <p:sp>
        <p:nvSpPr>
          <p:cNvPr id="6" name="Footer Placeholder 5">
            <a:extLst>
              <a:ext uri="{FF2B5EF4-FFF2-40B4-BE49-F238E27FC236}">
                <a16:creationId xmlns:a16="http://schemas.microsoft.com/office/drawing/2014/main" id="{07A76C3F-6B03-39CA-5636-A61F11DF679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0F9D20D-CA3D-5E6B-0E76-D97F909C1A64}"/>
              </a:ext>
            </a:extLst>
          </p:cNvPr>
          <p:cNvSpPr>
            <a:spLocks noGrp="1"/>
          </p:cNvSpPr>
          <p:nvPr>
            <p:ph type="sldNum" sz="quarter" idx="12"/>
          </p:nvPr>
        </p:nvSpPr>
        <p:spPr/>
        <p:txBody>
          <a:bodyPr/>
          <a:lstStyle/>
          <a:p>
            <a:fld id="{A0FBF9F6-EF0C-42F6-AD23-B39F56094C11}" type="slidenum">
              <a:rPr lang="en-IN" smtClean="0"/>
              <a:t>‹#›</a:t>
            </a:fld>
            <a:endParaRPr lang="en-IN"/>
          </a:p>
        </p:txBody>
      </p:sp>
    </p:spTree>
    <p:extLst>
      <p:ext uri="{BB962C8B-B14F-4D97-AF65-F5344CB8AC3E}">
        <p14:creationId xmlns:p14="http://schemas.microsoft.com/office/powerpoint/2010/main" val="24137980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D97F43-199E-9BCE-4D50-8954E0BE8A10}"/>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96944D7-22FF-36E1-07F6-22B641C1A81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8CD578C-0C27-36FD-D472-D82FECC0B42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3E7E7AE5-1AAE-E65C-8B3C-DFFEBDDFC6E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5CFE1B1-3F36-0693-EC88-BD4DD6BA761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BFBC6DC3-E138-7203-3032-7A1B1C8F72CB}"/>
              </a:ext>
            </a:extLst>
          </p:cNvPr>
          <p:cNvSpPr>
            <a:spLocks noGrp="1"/>
          </p:cNvSpPr>
          <p:nvPr>
            <p:ph type="dt" sz="half" idx="10"/>
          </p:nvPr>
        </p:nvSpPr>
        <p:spPr/>
        <p:txBody>
          <a:bodyPr/>
          <a:lstStyle/>
          <a:p>
            <a:fld id="{420D403A-96C4-4E6D-A71F-8A0C524F883B}" type="datetimeFigureOut">
              <a:rPr lang="en-IN" smtClean="0"/>
              <a:t>06-04-2026</a:t>
            </a:fld>
            <a:endParaRPr lang="en-IN"/>
          </a:p>
        </p:txBody>
      </p:sp>
      <p:sp>
        <p:nvSpPr>
          <p:cNvPr id="8" name="Footer Placeholder 7">
            <a:extLst>
              <a:ext uri="{FF2B5EF4-FFF2-40B4-BE49-F238E27FC236}">
                <a16:creationId xmlns:a16="http://schemas.microsoft.com/office/drawing/2014/main" id="{04CA86E1-47F6-C489-4161-38C1E5B295A8}"/>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4572C850-8984-D4A3-A7DE-A2403DF600F5}"/>
              </a:ext>
            </a:extLst>
          </p:cNvPr>
          <p:cNvSpPr>
            <a:spLocks noGrp="1"/>
          </p:cNvSpPr>
          <p:nvPr>
            <p:ph type="sldNum" sz="quarter" idx="12"/>
          </p:nvPr>
        </p:nvSpPr>
        <p:spPr/>
        <p:txBody>
          <a:bodyPr/>
          <a:lstStyle/>
          <a:p>
            <a:fld id="{A0FBF9F6-EF0C-42F6-AD23-B39F56094C11}" type="slidenum">
              <a:rPr lang="en-IN" smtClean="0"/>
              <a:t>‹#›</a:t>
            </a:fld>
            <a:endParaRPr lang="en-IN"/>
          </a:p>
        </p:txBody>
      </p:sp>
    </p:spTree>
    <p:extLst>
      <p:ext uri="{BB962C8B-B14F-4D97-AF65-F5344CB8AC3E}">
        <p14:creationId xmlns:p14="http://schemas.microsoft.com/office/powerpoint/2010/main" val="28231251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8610CE-4398-0C10-BE9E-9D6A4199D13F}"/>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D9E4C36B-338F-4187-B505-9F3CCC6AA265}"/>
              </a:ext>
            </a:extLst>
          </p:cNvPr>
          <p:cNvSpPr>
            <a:spLocks noGrp="1"/>
          </p:cNvSpPr>
          <p:nvPr>
            <p:ph type="dt" sz="half" idx="10"/>
          </p:nvPr>
        </p:nvSpPr>
        <p:spPr/>
        <p:txBody>
          <a:bodyPr/>
          <a:lstStyle/>
          <a:p>
            <a:fld id="{420D403A-96C4-4E6D-A71F-8A0C524F883B}" type="datetimeFigureOut">
              <a:rPr lang="en-IN" smtClean="0"/>
              <a:t>06-04-2026</a:t>
            </a:fld>
            <a:endParaRPr lang="en-IN"/>
          </a:p>
        </p:txBody>
      </p:sp>
      <p:sp>
        <p:nvSpPr>
          <p:cNvPr id="4" name="Footer Placeholder 3">
            <a:extLst>
              <a:ext uri="{FF2B5EF4-FFF2-40B4-BE49-F238E27FC236}">
                <a16:creationId xmlns:a16="http://schemas.microsoft.com/office/drawing/2014/main" id="{DC00D226-7EC5-6E85-9BBB-1CCA90967EAC}"/>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92EED67B-ACA7-C075-7748-E1BB773FAA8D}"/>
              </a:ext>
            </a:extLst>
          </p:cNvPr>
          <p:cNvSpPr>
            <a:spLocks noGrp="1"/>
          </p:cNvSpPr>
          <p:nvPr>
            <p:ph type="sldNum" sz="quarter" idx="12"/>
          </p:nvPr>
        </p:nvSpPr>
        <p:spPr/>
        <p:txBody>
          <a:bodyPr/>
          <a:lstStyle/>
          <a:p>
            <a:fld id="{A0FBF9F6-EF0C-42F6-AD23-B39F56094C11}" type="slidenum">
              <a:rPr lang="en-IN" smtClean="0"/>
              <a:t>‹#›</a:t>
            </a:fld>
            <a:endParaRPr lang="en-IN"/>
          </a:p>
        </p:txBody>
      </p:sp>
    </p:spTree>
    <p:extLst>
      <p:ext uri="{BB962C8B-B14F-4D97-AF65-F5344CB8AC3E}">
        <p14:creationId xmlns:p14="http://schemas.microsoft.com/office/powerpoint/2010/main" val="2752969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65109B3-7EF0-CD32-1BFA-5328B75A014E}"/>
              </a:ext>
            </a:extLst>
          </p:cNvPr>
          <p:cNvSpPr>
            <a:spLocks noGrp="1"/>
          </p:cNvSpPr>
          <p:nvPr>
            <p:ph type="dt" sz="half" idx="10"/>
          </p:nvPr>
        </p:nvSpPr>
        <p:spPr/>
        <p:txBody>
          <a:bodyPr/>
          <a:lstStyle/>
          <a:p>
            <a:fld id="{420D403A-96C4-4E6D-A71F-8A0C524F883B}" type="datetimeFigureOut">
              <a:rPr lang="en-IN" smtClean="0"/>
              <a:t>06-04-2026</a:t>
            </a:fld>
            <a:endParaRPr lang="en-IN"/>
          </a:p>
        </p:txBody>
      </p:sp>
      <p:sp>
        <p:nvSpPr>
          <p:cNvPr id="3" name="Footer Placeholder 2">
            <a:extLst>
              <a:ext uri="{FF2B5EF4-FFF2-40B4-BE49-F238E27FC236}">
                <a16:creationId xmlns:a16="http://schemas.microsoft.com/office/drawing/2014/main" id="{5FEA2E8F-C387-572C-CD62-8CF7A66F6BC4}"/>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CED60C2C-1F2B-51AB-C9F8-19DB99925E14}"/>
              </a:ext>
            </a:extLst>
          </p:cNvPr>
          <p:cNvSpPr>
            <a:spLocks noGrp="1"/>
          </p:cNvSpPr>
          <p:nvPr>
            <p:ph type="sldNum" sz="quarter" idx="12"/>
          </p:nvPr>
        </p:nvSpPr>
        <p:spPr/>
        <p:txBody>
          <a:bodyPr/>
          <a:lstStyle/>
          <a:p>
            <a:fld id="{A0FBF9F6-EF0C-42F6-AD23-B39F56094C11}" type="slidenum">
              <a:rPr lang="en-IN" smtClean="0"/>
              <a:t>‹#›</a:t>
            </a:fld>
            <a:endParaRPr lang="en-IN"/>
          </a:p>
        </p:txBody>
      </p:sp>
    </p:spTree>
    <p:extLst>
      <p:ext uri="{BB962C8B-B14F-4D97-AF65-F5344CB8AC3E}">
        <p14:creationId xmlns:p14="http://schemas.microsoft.com/office/powerpoint/2010/main" val="36456199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AC6AEC-9BA0-FC55-91D9-596305A8DE5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CC0FD214-E3F2-EEB2-2959-022E2A6FF66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EC20B84B-ADF1-B398-7318-B2C5B1F9570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23AFB36-A21B-414B-9428-9E72946DE6BA}"/>
              </a:ext>
            </a:extLst>
          </p:cNvPr>
          <p:cNvSpPr>
            <a:spLocks noGrp="1"/>
          </p:cNvSpPr>
          <p:nvPr>
            <p:ph type="dt" sz="half" idx="10"/>
          </p:nvPr>
        </p:nvSpPr>
        <p:spPr/>
        <p:txBody>
          <a:bodyPr/>
          <a:lstStyle/>
          <a:p>
            <a:fld id="{420D403A-96C4-4E6D-A71F-8A0C524F883B}" type="datetimeFigureOut">
              <a:rPr lang="en-IN" smtClean="0"/>
              <a:t>06-04-2026</a:t>
            </a:fld>
            <a:endParaRPr lang="en-IN"/>
          </a:p>
        </p:txBody>
      </p:sp>
      <p:sp>
        <p:nvSpPr>
          <p:cNvPr id="6" name="Footer Placeholder 5">
            <a:extLst>
              <a:ext uri="{FF2B5EF4-FFF2-40B4-BE49-F238E27FC236}">
                <a16:creationId xmlns:a16="http://schemas.microsoft.com/office/drawing/2014/main" id="{C1F86F34-1B4B-6F27-5041-44614842D3C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EA251D5-4BB1-F69B-6B1F-7E84E1620B4F}"/>
              </a:ext>
            </a:extLst>
          </p:cNvPr>
          <p:cNvSpPr>
            <a:spLocks noGrp="1"/>
          </p:cNvSpPr>
          <p:nvPr>
            <p:ph type="sldNum" sz="quarter" idx="12"/>
          </p:nvPr>
        </p:nvSpPr>
        <p:spPr/>
        <p:txBody>
          <a:bodyPr/>
          <a:lstStyle/>
          <a:p>
            <a:fld id="{A0FBF9F6-EF0C-42F6-AD23-B39F56094C11}" type="slidenum">
              <a:rPr lang="en-IN" smtClean="0"/>
              <a:t>‹#›</a:t>
            </a:fld>
            <a:endParaRPr lang="en-IN"/>
          </a:p>
        </p:txBody>
      </p:sp>
    </p:spTree>
    <p:extLst>
      <p:ext uri="{BB962C8B-B14F-4D97-AF65-F5344CB8AC3E}">
        <p14:creationId xmlns:p14="http://schemas.microsoft.com/office/powerpoint/2010/main" val="32426753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B82E39-BD9F-5C3C-D08A-AB8A6285B59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BB602E83-9BBB-546C-6579-DB768999448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72681896-3FD0-751E-CB7B-EA1C04BDBBF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928E466-427F-63B4-ED25-284497B2E737}"/>
              </a:ext>
            </a:extLst>
          </p:cNvPr>
          <p:cNvSpPr>
            <a:spLocks noGrp="1"/>
          </p:cNvSpPr>
          <p:nvPr>
            <p:ph type="dt" sz="half" idx="10"/>
          </p:nvPr>
        </p:nvSpPr>
        <p:spPr/>
        <p:txBody>
          <a:bodyPr/>
          <a:lstStyle/>
          <a:p>
            <a:fld id="{420D403A-96C4-4E6D-A71F-8A0C524F883B}" type="datetimeFigureOut">
              <a:rPr lang="en-IN" smtClean="0"/>
              <a:t>06-04-2026</a:t>
            </a:fld>
            <a:endParaRPr lang="en-IN"/>
          </a:p>
        </p:txBody>
      </p:sp>
      <p:sp>
        <p:nvSpPr>
          <p:cNvPr id="6" name="Footer Placeholder 5">
            <a:extLst>
              <a:ext uri="{FF2B5EF4-FFF2-40B4-BE49-F238E27FC236}">
                <a16:creationId xmlns:a16="http://schemas.microsoft.com/office/drawing/2014/main" id="{EB59ABBE-94A1-F6B9-10C0-40671AE59BB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D934366-3637-7934-0DF7-A5830FB116EB}"/>
              </a:ext>
            </a:extLst>
          </p:cNvPr>
          <p:cNvSpPr>
            <a:spLocks noGrp="1"/>
          </p:cNvSpPr>
          <p:nvPr>
            <p:ph type="sldNum" sz="quarter" idx="12"/>
          </p:nvPr>
        </p:nvSpPr>
        <p:spPr/>
        <p:txBody>
          <a:bodyPr/>
          <a:lstStyle/>
          <a:p>
            <a:fld id="{A0FBF9F6-EF0C-42F6-AD23-B39F56094C11}" type="slidenum">
              <a:rPr lang="en-IN" smtClean="0"/>
              <a:t>‹#›</a:t>
            </a:fld>
            <a:endParaRPr lang="en-IN"/>
          </a:p>
        </p:txBody>
      </p:sp>
    </p:spTree>
    <p:extLst>
      <p:ext uri="{BB962C8B-B14F-4D97-AF65-F5344CB8AC3E}">
        <p14:creationId xmlns:p14="http://schemas.microsoft.com/office/powerpoint/2010/main" val="28438535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A7C403-1CBB-80EC-73A8-3EDB4CFC9EC9}"/>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F964E7E-9512-F79C-3FD5-4EBFF865A8E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E84D681-3469-5E46-6E8F-BB3E5942BC78}"/>
              </a:ext>
            </a:extLst>
          </p:cNvPr>
          <p:cNvSpPr>
            <a:spLocks noGrp="1"/>
          </p:cNvSpPr>
          <p:nvPr>
            <p:ph type="dt" sz="half" idx="10"/>
          </p:nvPr>
        </p:nvSpPr>
        <p:spPr/>
        <p:txBody>
          <a:bodyPr/>
          <a:lstStyle/>
          <a:p>
            <a:fld id="{420D403A-96C4-4E6D-A71F-8A0C524F883B}" type="datetimeFigureOut">
              <a:rPr lang="en-IN" smtClean="0"/>
              <a:t>06-04-2026</a:t>
            </a:fld>
            <a:endParaRPr lang="en-IN"/>
          </a:p>
        </p:txBody>
      </p:sp>
      <p:sp>
        <p:nvSpPr>
          <p:cNvPr id="5" name="Footer Placeholder 4">
            <a:extLst>
              <a:ext uri="{FF2B5EF4-FFF2-40B4-BE49-F238E27FC236}">
                <a16:creationId xmlns:a16="http://schemas.microsoft.com/office/drawing/2014/main" id="{C24237A4-C073-9A53-503A-8B3D7CE913D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69EE962-73F4-EA2D-AED4-1273FAF7640A}"/>
              </a:ext>
            </a:extLst>
          </p:cNvPr>
          <p:cNvSpPr>
            <a:spLocks noGrp="1"/>
          </p:cNvSpPr>
          <p:nvPr>
            <p:ph type="sldNum" sz="quarter" idx="12"/>
          </p:nvPr>
        </p:nvSpPr>
        <p:spPr/>
        <p:txBody>
          <a:bodyPr/>
          <a:lstStyle/>
          <a:p>
            <a:fld id="{A0FBF9F6-EF0C-42F6-AD23-B39F56094C11}" type="slidenum">
              <a:rPr lang="en-IN" smtClean="0"/>
              <a:t>‹#›</a:t>
            </a:fld>
            <a:endParaRPr lang="en-IN"/>
          </a:p>
        </p:txBody>
      </p:sp>
    </p:spTree>
    <p:extLst>
      <p:ext uri="{BB962C8B-B14F-4D97-AF65-F5344CB8AC3E}">
        <p14:creationId xmlns:p14="http://schemas.microsoft.com/office/powerpoint/2010/main" val="1275570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0782872-BD1F-5FE4-6E63-AD318388EC3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C91EE48-43E8-58C9-147D-9441A517742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185C8A8-3FED-5156-3D67-A68A70FF666A}"/>
              </a:ext>
            </a:extLst>
          </p:cNvPr>
          <p:cNvSpPr>
            <a:spLocks noGrp="1"/>
          </p:cNvSpPr>
          <p:nvPr>
            <p:ph type="dt" sz="half" idx="10"/>
          </p:nvPr>
        </p:nvSpPr>
        <p:spPr/>
        <p:txBody>
          <a:bodyPr/>
          <a:lstStyle/>
          <a:p>
            <a:fld id="{420D403A-96C4-4E6D-A71F-8A0C524F883B}" type="datetimeFigureOut">
              <a:rPr lang="en-IN" smtClean="0"/>
              <a:t>06-04-2026</a:t>
            </a:fld>
            <a:endParaRPr lang="en-IN"/>
          </a:p>
        </p:txBody>
      </p:sp>
      <p:sp>
        <p:nvSpPr>
          <p:cNvPr id="5" name="Footer Placeholder 4">
            <a:extLst>
              <a:ext uri="{FF2B5EF4-FFF2-40B4-BE49-F238E27FC236}">
                <a16:creationId xmlns:a16="http://schemas.microsoft.com/office/drawing/2014/main" id="{DF18C20D-3E76-6CC2-EA7D-E05C92D04D9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2F1B5D8-51DD-5D53-BABF-6B8E5E54861A}"/>
              </a:ext>
            </a:extLst>
          </p:cNvPr>
          <p:cNvSpPr>
            <a:spLocks noGrp="1"/>
          </p:cNvSpPr>
          <p:nvPr>
            <p:ph type="sldNum" sz="quarter" idx="12"/>
          </p:nvPr>
        </p:nvSpPr>
        <p:spPr/>
        <p:txBody>
          <a:bodyPr/>
          <a:lstStyle/>
          <a:p>
            <a:fld id="{A0FBF9F6-EF0C-42F6-AD23-B39F56094C11}" type="slidenum">
              <a:rPr lang="en-IN" smtClean="0"/>
              <a:t>‹#›</a:t>
            </a:fld>
            <a:endParaRPr lang="en-IN"/>
          </a:p>
        </p:txBody>
      </p:sp>
    </p:spTree>
    <p:extLst>
      <p:ext uri="{BB962C8B-B14F-4D97-AF65-F5344CB8AC3E}">
        <p14:creationId xmlns:p14="http://schemas.microsoft.com/office/powerpoint/2010/main" val="7647084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B90BA52-6A8D-EDB3-CBD0-0AAD804FABD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4128725-ED4F-0BC9-E489-8DF39A73F69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ED81F21-289C-BD44-047B-155F9FB921E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20D403A-96C4-4E6D-A71F-8A0C524F883B}" type="datetimeFigureOut">
              <a:rPr lang="en-IN" smtClean="0"/>
              <a:t>06-04-2026</a:t>
            </a:fld>
            <a:endParaRPr lang="en-IN"/>
          </a:p>
        </p:txBody>
      </p:sp>
      <p:sp>
        <p:nvSpPr>
          <p:cNvPr id="5" name="Footer Placeholder 4">
            <a:extLst>
              <a:ext uri="{FF2B5EF4-FFF2-40B4-BE49-F238E27FC236}">
                <a16:creationId xmlns:a16="http://schemas.microsoft.com/office/drawing/2014/main" id="{837B1A81-041A-5B2C-CADF-7173BB18DDF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9889948D-7CCA-4327-C4DE-AA33A24A473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0FBF9F6-EF0C-42F6-AD23-B39F56094C11}" type="slidenum">
              <a:rPr lang="en-IN" smtClean="0"/>
              <a:t>‹#›</a:t>
            </a:fld>
            <a:endParaRPr lang="en-IN"/>
          </a:p>
        </p:txBody>
      </p:sp>
    </p:spTree>
    <p:extLst>
      <p:ext uri="{BB962C8B-B14F-4D97-AF65-F5344CB8AC3E}">
        <p14:creationId xmlns:p14="http://schemas.microsoft.com/office/powerpoint/2010/main" val="265067604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5FFA9D-AA8C-183A-340F-4284C2533B74}"/>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6700F163-E7FA-1B2C-D5E0-4ABC6D628EC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1BD2B560-468C-AE00-FD08-190FAA9C2CD5}"/>
              </a:ext>
            </a:extLst>
          </p:cNvPr>
          <p:cNvSpPr>
            <a:spLocks noGrp="1"/>
          </p:cNvSpPr>
          <p:nvPr>
            <p:ph type="ctrTitle"/>
          </p:nvPr>
        </p:nvSpPr>
        <p:spPr>
          <a:xfrm>
            <a:off x="1524000" y="651828"/>
            <a:ext cx="9144000" cy="2387600"/>
          </a:xfrm>
        </p:spPr>
        <p:txBody>
          <a:bodyPr/>
          <a:lstStyle/>
          <a:p>
            <a:r>
              <a:rPr lang="en-IN" b="1" dirty="0">
                <a:latin typeface="Montserrat" panose="00000500000000000000" pitchFamily="2" charset="0"/>
              </a:rPr>
              <a:t>Title</a:t>
            </a:r>
          </a:p>
        </p:txBody>
      </p:sp>
      <p:sp>
        <p:nvSpPr>
          <p:cNvPr id="6" name="Rectangle 2">
            <a:extLst>
              <a:ext uri="{FF2B5EF4-FFF2-40B4-BE49-F238E27FC236}">
                <a16:creationId xmlns:a16="http://schemas.microsoft.com/office/drawing/2014/main" id="{B88AD9CD-CFB0-97F2-617B-EF1420132690}"/>
              </a:ext>
            </a:extLst>
          </p:cNvPr>
          <p:cNvSpPr>
            <a:spLocks noGrp="1" noChangeArrowheads="1"/>
          </p:cNvSpPr>
          <p:nvPr>
            <p:ph type="subTitle" idx="1"/>
          </p:nvPr>
        </p:nvSpPr>
        <p:spPr bwMode="auto">
          <a:xfrm>
            <a:off x="1524000" y="3552756"/>
            <a:ext cx="6980885"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rPr>
              <a:t>Project Name:</a:t>
            </a:r>
            <a:r>
              <a:rPr kumimoji="0" lang="en-US" altLang="en-US" sz="1800" b="0" i="0" u="none" strike="noStrike" cap="none" normalizeH="0" baseline="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rPr>
              <a:t> </a:t>
            </a:r>
            <a:r>
              <a:rPr lang="en-US" altLang="en-US" sz="1800" dirty="0" err="1">
                <a:latin typeface="Open sans" panose="020B0606030504020204" pitchFamily="34" charset="0"/>
                <a:ea typeface="Open sans" panose="020B0606030504020204" pitchFamily="34" charset="0"/>
                <a:cs typeface="Open sans" panose="020B0606030504020204" pitchFamily="34" charset="0"/>
              </a:rPr>
              <a:t>IdolCare</a:t>
            </a:r>
            <a:r>
              <a:rPr lang="en-US" altLang="en-US" sz="1800" dirty="0">
                <a:latin typeface="Open sans" panose="020B0606030504020204" pitchFamily="34" charset="0"/>
                <a:ea typeface="Open sans" panose="020B0606030504020204" pitchFamily="34" charset="0"/>
                <a:cs typeface="Open sans" panose="020B0606030504020204" pitchFamily="34" charset="0"/>
              </a:rPr>
              <a:t> AI</a:t>
            </a:r>
            <a:endParaRPr kumimoji="0" lang="en-US" altLang="en-US" sz="1800" b="0" i="0" u="none" strike="noStrike" cap="none" normalizeH="0" baseline="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rPr>
              <a:t>Tagline:</a:t>
            </a:r>
            <a:r>
              <a:rPr kumimoji="0" lang="en-US" altLang="en-US" sz="1800" b="0" i="0" u="none" strike="noStrike" cap="none" normalizeH="0" baseline="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rPr>
              <a:t> Your loved one Health monitored as F1 race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rPr>
              <a:t>Team Name:</a:t>
            </a:r>
            <a:r>
              <a:rPr kumimoji="0" lang="en-US" altLang="en-US" sz="1800" b="0" i="0" u="none" strike="noStrike" cap="none" normalizeH="0" baseline="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rPr>
              <a:t> Kim </a:t>
            </a:r>
            <a:r>
              <a:rPr kumimoji="0" lang="en-US" altLang="en-US" sz="1800" b="0" i="0" u="none" strike="noStrike" cap="none" normalizeH="0" baseline="0" dirty="0" err="1">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rPr>
              <a:t>SeokJin</a:t>
            </a:r>
            <a:endParaRPr lang="en-US" altLang="en-US" sz="1800" dirty="0">
              <a:latin typeface="Open sans" panose="020B0606030504020204" pitchFamily="34" charset="0"/>
              <a:ea typeface="Open sans" panose="020B0606030504020204" pitchFamily="34" charset="0"/>
              <a:cs typeface="Open sans" panose="020B0606030504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rPr>
              <a:t>Event:</a:t>
            </a:r>
            <a:r>
              <a:rPr kumimoji="0" lang="en-US" altLang="en-US" sz="1800" b="0" i="0" u="none" strike="noStrike" cap="none" normalizeH="0" baseline="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rPr>
              <a:t> DevCraft: Simon’s Command Line (or your event name)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rPr>
              <a:t>Date</a:t>
            </a:r>
            <a:r>
              <a:rPr lang="en-US" altLang="en-US" sz="1800" dirty="0">
                <a:latin typeface="Open sans" panose="020B0606030504020204" pitchFamily="34" charset="0"/>
                <a:ea typeface="Open sans" panose="020B0606030504020204" pitchFamily="34" charset="0"/>
                <a:cs typeface="Open sans" panose="020B0606030504020204" pitchFamily="34" charset="0"/>
              </a:rPr>
              <a:t>: 06.04.2026</a:t>
            </a: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sz="1800" b="1" dirty="0">
                <a:latin typeface="Open sans" panose="020B0606030504020204" pitchFamily="34" charset="0"/>
                <a:ea typeface="Open sans" panose="020B0606030504020204" pitchFamily="34" charset="0"/>
                <a:cs typeface="Open sans" panose="020B0606030504020204" pitchFamily="34" charset="0"/>
              </a:rPr>
              <a:t>Domain: Healthcare</a:t>
            </a:r>
            <a:endParaRPr kumimoji="0" lang="en-US" altLang="en-US" sz="1800" b="1" i="0" u="none" strike="noStrike" cap="none" normalizeH="0" baseline="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36799314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608B3B-0FDC-937D-B730-D2DCFE2DBA5B}"/>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9EA4A0CE-87ED-FA30-F1CA-9ABEA241193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997E70B9-3D8E-AC8C-FD71-33A8999FB4B9}"/>
              </a:ext>
            </a:extLst>
          </p:cNvPr>
          <p:cNvSpPr>
            <a:spLocks noGrp="1"/>
          </p:cNvSpPr>
          <p:nvPr>
            <p:ph type="ctrTitle"/>
          </p:nvPr>
        </p:nvSpPr>
        <p:spPr>
          <a:xfrm>
            <a:off x="1741714" y="651828"/>
            <a:ext cx="8926286" cy="1514429"/>
          </a:xfrm>
        </p:spPr>
        <p:txBody>
          <a:bodyPr/>
          <a:lstStyle/>
          <a:p>
            <a:r>
              <a:rPr lang="en-IN" b="1" dirty="0">
                <a:latin typeface="Montserrat" panose="00000500000000000000" pitchFamily="2" charset="0"/>
              </a:rPr>
              <a:t>Problem Statement</a:t>
            </a:r>
          </a:p>
        </p:txBody>
      </p:sp>
      <p:sp>
        <p:nvSpPr>
          <p:cNvPr id="3" name="Subtitle 2">
            <a:extLst>
              <a:ext uri="{FF2B5EF4-FFF2-40B4-BE49-F238E27FC236}">
                <a16:creationId xmlns:a16="http://schemas.microsoft.com/office/drawing/2014/main" id="{F76C42E2-B03A-1F39-A18A-616A4BA0320A}"/>
              </a:ext>
            </a:extLst>
          </p:cNvPr>
          <p:cNvSpPr>
            <a:spLocks noGrp="1"/>
          </p:cNvSpPr>
          <p:nvPr>
            <p:ph type="subTitle" idx="1"/>
          </p:nvPr>
        </p:nvSpPr>
        <p:spPr>
          <a:xfrm>
            <a:off x="1404257" y="2818085"/>
            <a:ext cx="9263743" cy="2733629"/>
          </a:xfrm>
        </p:spPr>
        <p:txBody>
          <a:bodyPr>
            <a:noAutofit/>
          </a:bodyPr>
          <a:lstStyle/>
          <a:p>
            <a:r>
              <a:rPr lang="en-US" sz="1400" b="1" dirty="0"/>
              <a:t>Many elderly individuals live alone or spend long hours without direct supervision from family members. Because of busy work schedules, distance, and lack of continuous monitoring tools, families often struggle to track their loved ones' physical health, emotional condition, medication routines, memory changes, and daily activities.</a:t>
            </a:r>
          </a:p>
          <a:p>
            <a:r>
              <a:rPr lang="en-US" sz="1400" b="1" dirty="0"/>
              <a:t>Existing healthcare applications mainly focus only on medical records or basic health tracking. They often ignore emotional wellness, caregiver stress, loneliness, memory preservation, family communication, and real-time risk detection. Most platforms also feel too clinical, difficult to use, and lack a comforting family-centered experience.</a:t>
            </a:r>
          </a:p>
          <a:p>
            <a:r>
              <a:rPr lang="en-US" sz="1400" b="1" dirty="0"/>
              <a:t>As a result, important warning signs such as dehydration, stress, missed medication, unusual heart rate, emotional decline, or caregiver burnout may go unnoticed until they become serious emergencies.</a:t>
            </a:r>
          </a:p>
          <a:p>
            <a:r>
              <a:rPr lang="en-US" sz="1400" b="1" dirty="0"/>
              <a:t>There is a need for a smart, real-time, family-focused healthcare platform that continuously monitors elderly health, emotional well-being, daily habits, and family communication in one place while providing alerts, AI recommendations, and easy access for caregivers and family members.</a:t>
            </a:r>
          </a:p>
          <a:p>
            <a:endParaRPr lang="en-IN" sz="1400" b="1" dirty="0"/>
          </a:p>
        </p:txBody>
      </p:sp>
    </p:spTree>
    <p:extLst>
      <p:ext uri="{BB962C8B-B14F-4D97-AF65-F5344CB8AC3E}">
        <p14:creationId xmlns:p14="http://schemas.microsoft.com/office/powerpoint/2010/main" val="34201397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8582DC-8B8F-5773-F3B9-0B382CCDC77B}"/>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21D13157-B955-921F-107B-76F8794C04F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84BE8F45-6E88-24FC-6BE1-2BF874E6C8E3}"/>
              </a:ext>
            </a:extLst>
          </p:cNvPr>
          <p:cNvSpPr>
            <a:spLocks noGrp="1"/>
          </p:cNvSpPr>
          <p:nvPr>
            <p:ph type="ctrTitle"/>
          </p:nvPr>
        </p:nvSpPr>
        <p:spPr>
          <a:xfrm>
            <a:off x="1524000" y="651828"/>
            <a:ext cx="9144000" cy="2387600"/>
          </a:xfrm>
        </p:spPr>
        <p:txBody>
          <a:bodyPr/>
          <a:lstStyle/>
          <a:p>
            <a:r>
              <a:rPr lang="en-IN" b="1" dirty="0">
                <a:latin typeface="Montserrat" panose="00000500000000000000" pitchFamily="2" charset="0"/>
              </a:rPr>
              <a:t>Target Audience</a:t>
            </a:r>
          </a:p>
        </p:txBody>
      </p:sp>
      <p:sp>
        <p:nvSpPr>
          <p:cNvPr id="3" name="Subtitle 2">
            <a:extLst>
              <a:ext uri="{FF2B5EF4-FFF2-40B4-BE49-F238E27FC236}">
                <a16:creationId xmlns:a16="http://schemas.microsoft.com/office/drawing/2014/main" id="{DF4A2422-340E-8474-6CA8-CC69D2C58903}"/>
              </a:ext>
            </a:extLst>
          </p:cNvPr>
          <p:cNvSpPr>
            <a:spLocks noGrp="1"/>
          </p:cNvSpPr>
          <p:nvPr>
            <p:ph type="subTitle" idx="1"/>
          </p:nvPr>
        </p:nvSpPr>
        <p:spPr/>
        <p:txBody>
          <a:bodyPr>
            <a:noAutofit/>
          </a:bodyPr>
          <a:lstStyle/>
          <a:p>
            <a:r>
              <a:rPr lang="en-US" sz="1600" b="1" dirty="0"/>
              <a:t>The target audience for </a:t>
            </a:r>
            <a:r>
              <a:rPr lang="en-US" sz="1600" b="1" dirty="0" err="1"/>
              <a:t>IdolCare</a:t>
            </a:r>
            <a:r>
              <a:rPr lang="en-US" sz="1600" b="1" dirty="0"/>
              <a:t> AI is broad, but the primary users are:</a:t>
            </a:r>
          </a:p>
          <a:p>
            <a:pPr>
              <a:buFont typeface="Arial" panose="020B0604020202020204" pitchFamily="34" charset="0"/>
              <a:buChar char="•"/>
            </a:pPr>
            <a:r>
              <a:rPr lang="en-US" sz="1600" b="1" dirty="0"/>
              <a:t>Families with elderly parents or grandparents who live alone 👨‍👩‍👧 </a:t>
            </a:r>
          </a:p>
          <a:p>
            <a:pPr>
              <a:buFont typeface="Arial" panose="020B0604020202020204" pitchFamily="34" charset="0"/>
              <a:buChar char="•"/>
            </a:pPr>
            <a:r>
              <a:rPr lang="en-US" sz="1600" b="1" dirty="0"/>
              <a:t>Caregivers who need real-time monitoring and emotional support tools </a:t>
            </a:r>
          </a:p>
          <a:p>
            <a:pPr>
              <a:buFont typeface="Arial" panose="020B0604020202020204" pitchFamily="34" charset="0"/>
              <a:buChar char="•"/>
            </a:pPr>
            <a:r>
              <a:rPr lang="en-US" sz="1600" b="1" dirty="0"/>
              <a:t>Adults working in different cities who want to stay connected with loved ones </a:t>
            </a:r>
          </a:p>
          <a:p>
            <a:pPr>
              <a:buFont typeface="Arial" panose="020B0604020202020204" pitchFamily="34" charset="0"/>
              <a:buChar char="•"/>
            </a:pPr>
            <a:r>
              <a:rPr lang="en-US" sz="1600" b="1" dirty="0"/>
              <a:t>Elderly people who need help with medication, mood tracking, memory support, and reminders </a:t>
            </a:r>
          </a:p>
          <a:p>
            <a:pPr>
              <a:buFont typeface="Arial" panose="020B0604020202020204" pitchFamily="34" charset="0"/>
              <a:buChar char="•"/>
            </a:pPr>
            <a:r>
              <a:rPr lang="en-US" sz="1600" b="1" dirty="0"/>
              <a:t>Families managing conditions like forgetfulness, stress, loneliness, mild dementia, or low activity levels </a:t>
            </a:r>
          </a:p>
          <a:p>
            <a:pPr>
              <a:buFont typeface="Arial" panose="020B0604020202020204" pitchFamily="34" charset="0"/>
              <a:buChar char="•"/>
            </a:pPr>
            <a:r>
              <a:rPr lang="en-US" sz="1600" b="1" dirty="0"/>
              <a:t>Doctors and healthcare professionals who want better patient monitoring </a:t>
            </a:r>
          </a:p>
          <a:p>
            <a:pPr>
              <a:buFont typeface="Arial" panose="020B0604020202020204" pitchFamily="34" charset="0"/>
              <a:buChar char="•"/>
            </a:pPr>
            <a:r>
              <a:rPr lang="en-US" sz="1600" b="1" dirty="0"/>
              <a:t>Senior living communities and caregiving organizations</a:t>
            </a:r>
          </a:p>
          <a:p>
            <a:endParaRPr lang="en-US" sz="1600" b="1" dirty="0"/>
          </a:p>
        </p:txBody>
      </p:sp>
    </p:spTree>
    <p:extLst>
      <p:ext uri="{BB962C8B-B14F-4D97-AF65-F5344CB8AC3E}">
        <p14:creationId xmlns:p14="http://schemas.microsoft.com/office/powerpoint/2010/main" val="36573163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0C0F17-D71F-4E5D-8264-47A9F6A268A6}"/>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49C68430-CC32-D06A-B654-DB3AF9A5372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8C4DFB8E-8883-9ACA-6E6F-AA08D471DCDE}"/>
              </a:ext>
            </a:extLst>
          </p:cNvPr>
          <p:cNvSpPr>
            <a:spLocks noGrp="1"/>
          </p:cNvSpPr>
          <p:nvPr>
            <p:ph type="ctrTitle"/>
          </p:nvPr>
        </p:nvSpPr>
        <p:spPr>
          <a:xfrm>
            <a:off x="1524000" y="651828"/>
            <a:ext cx="8958943" cy="1350010"/>
          </a:xfrm>
        </p:spPr>
        <p:txBody>
          <a:bodyPr/>
          <a:lstStyle/>
          <a:p>
            <a:r>
              <a:rPr lang="en-IN" b="1" dirty="0">
                <a:latin typeface="Montserrat" panose="00000500000000000000" pitchFamily="2" charset="0"/>
              </a:rPr>
              <a:t>Existing Solutions</a:t>
            </a:r>
          </a:p>
        </p:txBody>
      </p:sp>
      <p:sp>
        <p:nvSpPr>
          <p:cNvPr id="3" name="Subtitle 2">
            <a:extLst>
              <a:ext uri="{FF2B5EF4-FFF2-40B4-BE49-F238E27FC236}">
                <a16:creationId xmlns:a16="http://schemas.microsoft.com/office/drawing/2014/main" id="{46632734-F5D3-955D-986B-0A58CBD1BA3C}"/>
              </a:ext>
            </a:extLst>
          </p:cNvPr>
          <p:cNvSpPr>
            <a:spLocks noGrp="1"/>
          </p:cNvSpPr>
          <p:nvPr>
            <p:ph type="subTitle" idx="1"/>
          </p:nvPr>
        </p:nvSpPr>
        <p:spPr>
          <a:xfrm>
            <a:off x="1436914" y="2373086"/>
            <a:ext cx="9231086" cy="2884714"/>
          </a:xfrm>
        </p:spPr>
        <p:txBody>
          <a:bodyPr>
            <a:normAutofit lnSpcReduction="10000"/>
          </a:bodyPr>
          <a:lstStyle/>
          <a:p>
            <a:r>
              <a:rPr lang="en-US" dirty="0"/>
              <a:t>Existing solutions like </a:t>
            </a:r>
            <a:r>
              <a:rPr lang="en-US" dirty="0" err="1"/>
              <a:t>CarePredict</a:t>
            </a:r>
            <a:r>
              <a:rPr lang="en-US" dirty="0"/>
              <a:t>, </a:t>
            </a:r>
            <a:r>
              <a:rPr lang="en-US" dirty="0" err="1"/>
              <a:t>CareClinic</a:t>
            </a:r>
            <a:r>
              <a:rPr lang="en-US" dirty="0"/>
              <a:t>, </a:t>
            </a:r>
            <a:r>
              <a:rPr lang="en-US" dirty="0" err="1"/>
              <a:t>ElliQ</a:t>
            </a:r>
            <a:r>
              <a:rPr lang="en-US" dirty="0"/>
              <a:t>, and </a:t>
            </a:r>
            <a:r>
              <a:rPr lang="en-US" dirty="0" err="1"/>
              <a:t>FamilyPulse</a:t>
            </a:r>
            <a:r>
              <a:rPr lang="en-US" dirty="0"/>
              <a:t> mainly focus on only one area such as health monitoring, medication reminders, emotional support, or caregiver communication.</a:t>
            </a:r>
          </a:p>
          <a:p>
            <a:r>
              <a:rPr lang="en-US" dirty="0"/>
              <a:t>However, they do not combine physical health, emotional wellness, memory support, family communication, caregiver burnout detection, AI recommendations, and real-time alerts in one platform.</a:t>
            </a:r>
          </a:p>
          <a:p>
            <a:r>
              <a:rPr lang="en-US" dirty="0" err="1"/>
              <a:t>IdolCare</a:t>
            </a:r>
            <a:r>
              <a:rPr lang="en-US" dirty="0"/>
              <a:t> AI solves this by bringing all these features together in a single Formula 1-inspired caregiving dashboard.</a:t>
            </a:r>
          </a:p>
          <a:p>
            <a:endParaRPr lang="en-US" dirty="0"/>
          </a:p>
        </p:txBody>
      </p:sp>
    </p:spTree>
    <p:extLst>
      <p:ext uri="{BB962C8B-B14F-4D97-AF65-F5344CB8AC3E}">
        <p14:creationId xmlns:p14="http://schemas.microsoft.com/office/powerpoint/2010/main" val="23614185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8E8092-3A14-DA37-5C79-FFB96B58F4FF}"/>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ED6E1A02-DDF7-89F3-98B0-23412617B5D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7B15C0A3-67F8-05CD-6B78-1C156A8A830D}"/>
              </a:ext>
            </a:extLst>
          </p:cNvPr>
          <p:cNvSpPr>
            <a:spLocks noGrp="1"/>
          </p:cNvSpPr>
          <p:nvPr>
            <p:ph type="ctrTitle"/>
          </p:nvPr>
        </p:nvSpPr>
        <p:spPr>
          <a:xfrm>
            <a:off x="1524000" y="651828"/>
            <a:ext cx="7946571" cy="1884543"/>
          </a:xfrm>
        </p:spPr>
        <p:txBody>
          <a:bodyPr/>
          <a:lstStyle/>
          <a:p>
            <a:r>
              <a:rPr lang="en-IN" b="1" dirty="0">
                <a:latin typeface="Montserrat" panose="00000500000000000000" pitchFamily="2" charset="0"/>
              </a:rPr>
              <a:t>Gaps &amp; Opportunities</a:t>
            </a:r>
          </a:p>
        </p:txBody>
      </p:sp>
      <p:sp>
        <p:nvSpPr>
          <p:cNvPr id="5" name="Rectangle 1">
            <a:extLst>
              <a:ext uri="{FF2B5EF4-FFF2-40B4-BE49-F238E27FC236}">
                <a16:creationId xmlns:a16="http://schemas.microsoft.com/office/drawing/2014/main" id="{4C0D931C-58DF-B20F-5C04-5BE8B0E5FB5D}"/>
              </a:ext>
            </a:extLst>
          </p:cNvPr>
          <p:cNvSpPr>
            <a:spLocks noGrp="1" noChangeArrowheads="1"/>
          </p:cNvSpPr>
          <p:nvPr>
            <p:ph type="subTitle" idx="1"/>
          </p:nvPr>
        </p:nvSpPr>
        <p:spPr bwMode="auto">
          <a:xfrm>
            <a:off x="1273175" y="2536825"/>
            <a:ext cx="9394825" cy="2720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Existing platforms focus only on one area like medication reminders, emotional support, or health tracking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Most apps do not combine physical, emotional, and cognitive health monitoring in one system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Caregiver burnout is rarely tracked or addressed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Family communication features are often limited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Few solutions provide real-time AI risk prediction and emergency alerts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Existing healthcare apps usually look too clinical and are difficult for elderly users and families to engage with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There is an opportunity to create a more emotional, family-friendly, and visually engaging platform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Integrating music, memories, voice notes, family photos, and emotional support can make elderly care more human-centered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A futuristic Formula 1-inspired dashboard can make health monitoring more interactive, understandable, and unique for users and judges </a:t>
            </a:r>
          </a:p>
        </p:txBody>
      </p:sp>
    </p:spTree>
    <p:extLst>
      <p:ext uri="{BB962C8B-B14F-4D97-AF65-F5344CB8AC3E}">
        <p14:creationId xmlns:p14="http://schemas.microsoft.com/office/powerpoint/2010/main" val="8108016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F4A417-F70C-76F1-8DA7-9F84EA24E614}"/>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F8AD5367-3E92-5729-6FD7-273C70AADE1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7287607C-AF5E-2567-232F-3994FF9F27D5}"/>
              </a:ext>
            </a:extLst>
          </p:cNvPr>
          <p:cNvSpPr>
            <a:spLocks noGrp="1"/>
          </p:cNvSpPr>
          <p:nvPr>
            <p:ph type="ctrTitle"/>
          </p:nvPr>
        </p:nvSpPr>
        <p:spPr>
          <a:xfrm>
            <a:off x="1524000" y="651828"/>
            <a:ext cx="9144000" cy="1209629"/>
          </a:xfrm>
        </p:spPr>
        <p:txBody>
          <a:bodyPr/>
          <a:lstStyle/>
          <a:p>
            <a:r>
              <a:rPr lang="en-IN" b="1" dirty="0">
                <a:latin typeface="Montserrat" panose="00000500000000000000" pitchFamily="2" charset="0"/>
              </a:rPr>
              <a:t>Your Solution</a:t>
            </a:r>
          </a:p>
        </p:txBody>
      </p:sp>
      <p:sp>
        <p:nvSpPr>
          <p:cNvPr id="3" name="Subtitle 2">
            <a:extLst>
              <a:ext uri="{FF2B5EF4-FFF2-40B4-BE49-F238E27FC236}">
                <a16:creationId xmlns:a16="http://schemas.microsoft.com/office/drawing/2014/main" id="{CFBD9A0F-685D-2B29-DBD0-99378586E535}"/>
              </a:ext>
            </a:extLst>
          </p:cNvPr>
          <p:cNvSpPr>
            <a:spLocks noGrp="1"/>
          </p:cNvSpPr>
          <p:nvPr>
            <p:ph type="subTitle" idx="1"/>
          </p:nvPr>
        </p:nvSpPr>
        <p:spPr>
          <a:xfrm>
            <a:off x="1023257" y="2002971"/>
            <a:ext cx="9644743" cy="3254829"/>
          </a:xfrm>
        </p:spPr>
        <p:txBody>
          <a:bodyPr>
            <a:noAutofit/>
          </a:bodyPr>
          <a:lstStyle/>
          <a:p>
            <a:r>
              <a:rPr lang="en-US" sz="2000" b="1" dirty="0" err="1"/>
              <a:t>IdolCare</a:t>
            </a:r>
            <a:r>
              <a:rPr lang="en-US" sz="2000" b="1" dirty="0"/>
              <a:t> AI is a smart elderly care platform that combines physical health monitoring, emotional wellness tracking, memory support, family communication, and AI-based risk prediction in one place.</a:t>
            </a:r>
          </a:p>
          <a:p>
            <a:r>
              <a:rPr lang="en-US" sz="2000" b="1" dirty="0"/>
              <a:t>The platform continuously tracks factors like heart rate, hydration, sleep, mood, medication completion, and daily routine. It also analyzes emotional state through voice patterns, detects caregiver burnout, and provides instant alerts when unusual behavior or health risks are found.</a:t>
            </a:r>
          </a:p>
          <a:p>
            <a:r>
              <a:rPr lang="en-US" sz="2000" b="1" dirty="0"/>
              <a:t>Family members can monitor their loved ones remotely, receive notifications, view reports, schedule reminders, make calls, listen to calming music, and preserve important memories through photos and voice notes.</a:t>
            </a:r>
          </a:p>
          <a:p>
            <a:r>
              <a:rPr lang="en-US" sz="2000" b="1" dirty="0"/>
              <a:t>The Formula 1-inspired dashboard makes healthcare monitoring more interactive by representing health data as racing telemetry such as fuel level, tire condition, pit stop alerts, and engine health. This creates a futuristic and easy-to-understand experience for both families and caregivers.</a:t>
            </a:r>
          </a:p>
          <a:p>
            <a:endParaRPr lang="en-US" sz="2000" b="1" dirty="0"/>
          </a:p>
        </p:txBody>
      </p:sp>
    </p:spTree>
    <p:extLst>
      <p:ext uri="{BB962C8B-B14F-4D97-AF65-F5344CB8AC3E}">
        <p14:creationId xmlns:p14="http://schemas.microsoft.com/office/powerpoint/2010/main" val="13479144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F72507-FD22-2E16-53F4-E66535A41E90}"/>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CFBCE28E-E731-156C-EDC9-D5CD678B6DB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7C95F80B-DB77-DFBE-02AB-06459A8C987C}"/>
              </a:ext>
            </a:extLst>
          </p:cNvPr>
          <p:cNvSpPr>
            <a:spLocks noGrp="1"/>
          </p:cNvSpPr>
          <p:nvPr>
            <p:ph type="ctrTitle"/>
          </p:nvPr>
        </p:nvSpPr>
        <p:spPr>
          <a:xfrm>
            <a:off x="1524000" y="651828"/>
            <a:ext cx="9035143" cy="1220515"/>
          </a:xfrm>
        </p:spPr>
        <p:txBody>
          <a:bodyPr/>
          <a:lstStyle/>
          <a:p>
            <a:r>
              <a:rPr lang="en-IN" b="1" dirty="0">
                <a:latin typeface="Montserrat" panose="00000500000000000000" pitchFamily="2" charset="0"/>
              </a:rPr>
              <a:t>Key Features</a:t>
            </a:r>
          </a:p>
        </p:txBody>
      </p:sp>
      <p:sp>
        <p:nvSpPr>
          <p:cNvPr id="5" name="Rectangle 1">
            <a:extLst>
              <a:ext uri="{FF2B5EF4-FFF2-40B4-BE49-F238E27FC236}">
                <a16:creationId xmlns:a16="http://schemas.microsoft.com/office/drawing/2014/main" id="{F5D46088-C831-5DE9-5F5B-038D7224BBD9}"/>
              </a:ext>
            </a:extLst>
          </p:cNvPr>
          <p:cNvSpPr>
            <a:spLocks noGrp="1" noChangeArrowheads="1"/>
          </p:cNvSpPr>
          <p:nvPr>
            <p:ph type="subTitle" idx="1"/>
          </p:nvPr>
        </p:nvSpPr>
        <p:spPr bwMode="auto">
          <a:xfrm>
            <a:off x="870857" y="1563831"/>
            <a:ext cx="9797143"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1"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rPr>
              <a:t>Real-time health monitoring for heart rate, hydration, sleep, medication, and activity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rPr>
              <a:t>Emotional wellness tracking using mood logs and voice stress analysis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rPr>
              <a:t>AI-based daily risk scoring and emergency alerts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rPr>
              <a:t>Caregiver burnout detection and support notifications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rPr>
              <a:t>Family dashboard with </a:t>
            </a:r>
            <a:r>
              <a:rPr kumimoji="0" lang="en-US" altLang="en-US" sz="1800" b="1" i="0" u="none" strike="noStrike" cap="none" normalizeH="0" baseline="0" dirty="0" err="1">
                <a:ln>
                  <a:noFill/>
                </a:ln>
                <a:solidFill>
                  <a:schemeClr val="tx1"/>
                </a:solidFill>
                <a:effectLst/>
              </a:rPr>
              <a:t>realtime</a:t>
            </a:r>
            <a:r>
              <a:rPr kumimoji="0" lang="en-US" altLang="en-US" sz="1800" b="1" i="0" u="none" strike="noStrike" cap="none" normalizeH="0" baseline="0" dirty="0">
                <a:ln>
                  <a:noFill/>
                </a:ln>
                <a:solidFill>
                  <a:schemeClr val="tx1"/>
                </a:solidFill>
                <a:effectLst/>
              </a:rPr>
              <a:t> updates and remote monitoring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rPr>
              <a:t>Memory preservation through photos, voice notes, and reminders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rPr>
              <a:t>Calendar integration for appointments, medicines, and routines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rPr>
              <a:t>Built-in phone call and family communication system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rPr>
              <a:t>Music recommendation section for relaxation and emotional support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rPr>
              <a:t>Formula 1-inspired health dashboard with pit stop alerts, telemetry cards, health rings, and trend graphs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rPr>
              <a:t>Multi-agent AI system for health tracking, emotional analysis, memory support, risk prediction, and caregiver assistance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rPr>
              <a:t>Secure login, authentication, and role-based access for family members, caregivers, doctors, and elderly users </a:t>
            </a:r>
          </a:p>
        </p:txBody>
      </p:sp>
    </p:spTree>
    <p:extLst>
      <p:ext uri="{BB962C8B-B14F-4D97-AF65-F5344CB8AC3E}">
        <p14:creationId xmlns:p14="http://schemas.microsoft.com/office/powerpoint/2010/main" val="16072100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49CE99-2961-B95A-6509-047601B344AE}"/>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725206E9-DF7E-9DFF-CAC2-03673EB754A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E81795BD-090E-6657-E419-87C2FF670FCE}"/>
              </a:ext>
            </a:extLst>
          </p:cNvPr>
          <p:cNvSpPr>
            <a:spLocks noGrp="1"/>
          </p:cNvSpPr>
          <p:nvPr>
            <p:ph type="ctrTitle"/>
          </p:nvPr>
        </p:nvSpPr>
        <p:spPr>
          <a:xfrm>
            <a:off x="1524000" y="651828"/>
            <a:ext cx="8719457" cy="1035458"/>
          </a:xfrm>
        </p:spPr>
        <p:txBody>
          <a:bodyPr/>
          <a:lstStyle/>
          <a:p>
            <a:r>
              <a:rPr lang="en-IN" b="1" dirty="0">
                <a:latin typeface="Montserrat" panose="00000500000000000000" pitchFamily="2" charset="0"/>
              </a:rPr>
              <a:t>System Architecture</a:t>
            </a:r>
          </a:p>
        </p:txBody>
      </p:sp>
      <p:sp>
        <p:nvSpPr>
          <p:cNvPr id="5" name="TextBox 4">
            <a:extLst>
              <a:ext uri="{FF2B5EF4-FFF2-40B4-BE49-F238E27FC236}">
                <a16:creationId xmlns:a16="http://schemas.microsoft.com/office/drawing/2014/main" id="{48AFDFDA-3B78-AFB8-E9C8-ECEF1D891756}"/>
              </a:ext>
            </a:extLst>
          </p:cNvPr>
          <p:cNvSpPr txBox="1"/>
          <p:nvPr/>
        </p:nvSpPr>
        <p:spPr>
          <a:xfrm>
            <a:off x="674914" y="2122714"/>
            <a:ext cx="2884715" cy="1754326"/>
          </a:xfrm>
          <a:prstGeom prst="rect">
            <a:avLst/>
          </a:prstGeom>
          <a:noFill/>
        </p:spPr>
        <p:txBody>
          <a:bodyPr wrap="square" rtlCol="0">
            <a:spAutoFit/>
          </a:bodyPr>
          <a:lstStyle/>
          <a:p>
            <a:pPr>
              <a:buFont typeface="+mj-lt"/>
              <a:buAutoNum type="arabicPeriod"/>
            </a:pPr>
            <a:r>
              <a:rPr lang="en-US" dirty="0"/>
              <a:t>User Layer </a:t>
            </a:r>
          </a:p>
          <a:p>
            <a:pPr>
              <a:buFont typeface="Arial" panose="020B0604020202020204" pitchFamily="34" charset="0"/>
              <a:buChar char="•"/>
            </a:pPr>
            <a:r>
              <a:rPr lang="en-US" dirty="0"/>
              <a:t>Elderly User </a:t>
            </a:r>
          </a:p>
          <a:p>
            <a:pPr>
              <a:buFont typeface="Arial" panose="020B0604020202020204" pitchFamily="34" charset="0"/>
              <a:buChar char="•"/>
            </a:pPr>
            <a:r>
              <a:rPr lang="en-US" dirty="0"/>
              <a:t>Family Member </a:t>
            </a:r>
          </a:p>
          <a:p>
            <a:pPr>
              <a:buFont typeface="Arial" panose="020B0604020202020204" pitchFamily="34" charset="0"/>
              <a:buChar char="•"/>
            </a:pPr>
            <a:r>
              <a:rPr lang="en-US" dirty="0"/>
              <a:t>Caregiver </a:t>
            </a:r>
          </a:p>
          <a:p>
            <a:pPr>
              <a:buFont typeface="Arial" panose="020B0604020202020204" pitchFamily="34" charset="0"/>
              <a:buChar char="•"/>
            </a:pPr>
            <a:r>
              <a:rPr lang="en-US" dirty="0"/>
              <a:t>Doctor / Healthcare Staff</a:t>
            </a:r>
          </a:p>
          <a:p>
            <a:endParaRPr lang="en-IN" dirty="0"/>
          </a:p>
        </p:txBody>
      </p:sp>
      <p:graphicFrame>
        <p:nvGraphicFramePr>
          <p:cNvPr id="6" name="Table 5">
            <a:extLst>
              <a:ext uri="{FF2B5EF4-FFF2-40B4-BE49-F238E27FC236}">
                <a16:creationId xmlns:a16="http://schemas.microsoft.com/office/drawing/2014/main" id="{27B872F8-0A63-42C3-ECA8-349A6905FB5B}"/>
              </a:ext>
            </a:extLst>
          </p:cNvPr>
          <p:cNvGraphicFramePr>
            <a:graphicFrameLocks noGrp="1"/>
          </p:cNvGraphicFramePr>
          <p:nvPr>
            <p:extLst>
              <p:ext uri="{D42A27DB-BD31-4B8C-83A1-F6EECF244321}">
                <p14:modId xmlns:p14="http://schemas.microsoft.com/office/powerpoint/2010/main" val="2489741740"/>
              </p:ext>
            </p:extLst>
          </p:nvPr>
        </p:nvGraphicFramePr>
        <p:xfrm>
          <a:off x="598714" y="1981200"/>
          <a:ext cx="2982686" cy="1970314"/>
        </p:xfrm>
        <a:graphic>
          <a:graphicData uri="http://schemas.openxmlformats.org/drawingml/2006/table">
            <a:tbl>
              <a:tblPr/>
              <a:tblGrid>
                <a:gridCol w="2982686">
                  <a:extLst>
                    <a:ext uri="{9D8B030D-6E8A-4147-A177-3AD203B41FA5}">
                      <a16:colId xmlns:a16="http://schemas.microsoft.com/office/drawing/2014/main" val="2244729920"/>
                    </a:ext>
                  </a:extLst>
                </a:gridCol>
              </a:tblGrid>
              <a:tr h="1970314">
                <a:tc>
                  <a:txBody>
                    <a:bodyPr/>
                    <a:lstStyle/>
                    <a:p>
                      <a:endParaRPr lang="en-IN" dirty="0"/>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extLst>
                  <a:ext uri="{0D108BD9-81ED-4DB2-BD59-A6C34878D82A}">
                    <a16:rowId xmlns:a16="http://schemas.microsoft.com/office/drawing/2014/main" val="2976842533"/>
                  </a:ext>
                </a:extLst>
              </a:tr>
            </a:tbl>
          </a:graphicData>
        </a:graphic>
      </p:graphicFrame>
      <p:graphicFrame>
        <p:nvGraphicFramePr>
          <p:cNvPr id="7" name="Table 6">
            <a:extLst>
              <a:ext uri="{FF2B5EF4-FFF2-40B4-BE49-F238E27FC236}">
                <a16:creationId xmlns:a16="http://schemas.microsoft.com/office/drawing/2014/main" id="{D41810DD-4F9F-2CC8-A117-9BA8F741FD6A}"/>
              </a:ext>
            </a:extLst>
          </p:cNvPr>
          <p:cNvGraphicFramePr>
            <a:graphicFrameLocks noGrp="1"/>
          </p:cNvGraphicFramePr>
          <p:nvPr>
            <p:extLst>
              <p:ext uri="{D42A27DB-BD31-4B8C-83A1-F6EECF244321}">
                <p14:modId xmlns:p14="http://schemas.microsoft.com/office/powerpoint/2010/main" val="2582602231"/>
              </p:ext>
            </p:extLst>
          </p:nvPr>
        </p:nvGraphicFramePr>
        <p:xfrm>
          <a:off x="3973286" y="1817914"/>
          <a:ext cx="2122715" cy="2286000"/>
        </p:xfrm>
        <a:graphic>
          <a:graphicData uri="http://schemas.openxmlformats.org/drawingml/2006/table">
            <a:tbl>
              <a:tblPr/>
              <a:tblGrid>
                <a:gridCol w="2122715">
                  <a:extLst>
                    <a:ext uri="{9D8B030D-6E8A-4147-A177-3AD203B41FA5}">
                      <a16:colId xmlns:a16="http://schemas.microsoft.com/office/drawing/2014/main" val="495506770"/>
                    </a:ext>
                  </a:extLst>
                </a:gridCol>
              </a:tblGrid>
              <a:tr h="2253343">
                <a:tc>
                  <a:txBody>
                    <a:bodyPr/>
                    <a:lstStyle/>
                    <a:p>
                      <a:r>
                        <a:rPr lang="en-US" dirty="0"/>
                        <a:t>Frontend Layer </a:t>
                      </a:r>
                    </a:p>
                    <a:p>
                      <a:r>
                        <a:rPr lang="en-US" dirty="0"/>
                        <a:t>Built using Next.js and React </a:t>
                      </a:r>
                    </a:p>
                    <a:p>
                      <a:r>
                        <a:rPr lang="en-US" dirty="0"/>
                        <a:t>Styled using Tailwind CSS </a:t>
                      </a:r>
                    </a:p>
                    <a:p>
                      <a:r>
                        <a:rPr lang="en-US" dirty="0"/>
                        <a:t>Uses Framer Motion for animations</a:t>
                      </a:r>
                    </a:p>
                    <a:p>
                      <a:endParaRPr lang="en-IN" dirty="0"/>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extLst>
                  <a:ext uri="{0D108BD9-81ED-4DB2-BD59-A6C34878D82A}">
                    <a16:rowId xmlns:a16="http://schemas.microsoft.com/office/drawing/2014/main" val="211183930"/>
                  </a:ext>
                </a:extLst>
              </a:tr>
            </a:tbl>
          </a:graphicData>
        </a:graphic>
      </p:graphicFrame>
      <p:graphicFrame>
        <p:nvGraphicFramePr>
          <p:cNvPr id="8" name="Table 7">
            <a:extLst>
              <a:ext uri="{FF2B5EF4-FFF2-40B4-BE49-F238E27FC236}">
                <a16:creationId xmlns:a16="http://schemas.microsoft.com/office/drawing/2014/main" id="{2CB69A08-C0F8-E867-9E46-2607CEB1100F}"/>
              </a:ext>
            </a:extLst>
          </p:cNvPr>
          <p:cNvGraphicFramePr>
            <a:graphicFrameLocks noGrp="1"/>
          </p:cNvGraphicFramePr>
          <p:nvPr>
            <p:extLst>
              <p:ext uri="{D42A27DB-BD31-4B8C-83A1-F6EECF244321}">
                <p14:modId xmlns:p14="http://schemas.microsoft.com/office/powerpoint/2010/main" val="3886507544"/>
              </p:ext>
            </p:extLst>
          </p:nvPr>
        </p:nvGraphicFramePr>
        <p:xfrm>
          <a:off x="6346371" y="1992086"/>
          <a:ext cx="2525486" cy="2286000"/>
        </p:xfrm>
        <a:graphic>
          <a:graphicData uri="http://schemas.openxmlformats.org/drawingml/2006/table">
            <a:tbl>
              <a:tblPr/>
              <a:tblGrid>
                <a:gridCol w="2525486">
                  <a:extLst>
                    <a:ext uri="{9D8B030D-6E8A-4147-A177-3AD203B41FA5}">
                      <a16:colId xmlns:a16="http://schemas.microsoft.com/office/drawing/2014/main" val="3974141680"/>
                    </a:ext>
                  </a:extLst>
                </a:gridCol>
              </a:tblGrid>
              <a:tr h="2242457">
                <a:tc>
                  <a:txBody>
                    <a:bodyPr/>
                    <a:lstStyle/>
                    <a:p>
                      <a:r>
                        <a:rPr lang="en-US" dirty="0"/>
                        <a:t>Backend Layer </a:t>
                      </a:r>
                    </a:p>
                    <a:p>
                      <a:r>
                        <a:rPr lang="en-US" dirty="0"/>
                        <a:t>Built using Node.js and Express.js </a:t>
                      </a:r>
                    </a:p>
                    <a:p>
                      <a:r>
                        <a:rPr lang="en-US" dirty="0"/>
                        <a:t>Handles authentication, API requests, reminders, notifications, reports, and AI integration</a:t>
                      </a:r>
                    </a:p>
                    <a:p>
                      <a:endParaRPr lang="en-IN" dirty="0"/>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extLst>
                  <a:ext uri="{0D108BD9-81ED-4DB2-BD59-A6C34878D82A}">
                    <a16:rowId xmlns:a16="http://schemas.microsoft.com/office/drawing/2014/main" val="1186316510"/>
                  </a:ext>
                </a:extLst>
              </a:tr>
            </a:tbl>
          </a:graphicData>
        </a:graphic>
      </p:graphicFrame>
      <p:graphicFrame>
        <p:nvGraphicFramePr>
          <p:cNvPr id="9" name="Table 8">
            <a:extLst>
              <a:ext uri="{FF2B5EF4-FFF2-40B4-BE49-F238E27FC236}">
                <a16:creationId xmlns:a16="http://schemas.microsoft.com/office/drawing/2014/main" id="{43E0F8F2-902C-841F-BF4D-E6E589166DBB}"/>
              </a:ext>
            </a:extLst>
          </p:cNvPr>
          <p:cNvGraphicFramePr>
            <a:graphicFrameLocks noGrp="1"/>
          </p:cNvGraphicFramePr>
          <p:nvPr>
            <p:extLst>
              <p:ext uri="{D42A27DB-BD31-4B8C-83A1-F6EECF244321}">
                <p14:modId xmlns:p14="http://schemas.microsoft.com/office/powerpoint/2010/main" val="2376898124"/>
              </p:ext>
            </p:extLst>
          </p:nvPr>
        </p:nvGraphicFramePr>
        <p:xfrm>
          <a:off x="914400" y="4604657"/>
          <a:ext cx="3298371" cy="1737360"/>
        </p:xfrm>
        <a:graphic>
          <a:graphicData uri="http://schemas.openxmlformats.org/drawingml/2006/table">
            <a:tbl>
              <a:tblPr/>
              <a:tblGrid>
                <a:gridCol w="3298371">
                  <a:extLst>
                    <a:ext uri="{9D8B030D-6E8A-4147-A177-3AD203B41FA5}">
                      <a16:colId xmlns:a16="http://schemas.microsoft.com/office/drawing/2014/main" val="2145979888"/>
                    </a:ext>
                  </a:extLst>
                </a:gridCol>
              </a:tblGrid>
              <a:tr h="1611086">
                <a:tc>
                  <a:txBody>
                    <a:bodyPr/>
                    <a:lstStyle/>
                    <a:p>
                      <a:r>
                        <a:rPr lang="en-US" dirty="0"/>
                        <a:t>Database Layer </a:t>
                      </a:r>
                    </a:p>
                    <a:p>
                      <a:r>
                        <a:rPr lang="en-US" dirty="0"/>
                        <a:t>Uses MongoDB for storing: </a:t>
                      </a:r>
                    </a:p>
                    <a:p>
                      <a:pPr lvl="1"/>
                      <a:r>
                        <a:rPr lang="en-US" dirty="0"/>
                        <a:t>User accounts </a:t>
                      </a:r>
                    </a:p>
                    <a:p>
                      <a:pPr lvl="1"/>
                      <a:r>
                        <a:rPr lang="en-US" dirty="0"/>
                        <a:t>Health records </a:t>
                      </a:r>
                    </a:p>
                    <a:p>
                      <a:pPr lvl="1"/>
                      <a:r>
                        <a:rPr lang="en-US" dirty="0"/>
                        <a:t>Mood logs</a:t>
                      </a:r>
                    </a:p>
                    <a:p>
                      <a:endParaRPr lang="en-IN" dirty="0"/>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extLst>
                  <a:ext uri="{0D108BD9-81ED-4DB2-BD59-A6C34878D82A}">
                    <a16:rowId xmlns:a16="http://schemas.microsoft.com/office/drawing/2014/main" val="3101763267"/>
                  </a:ext>
                </a:extLst>
              </a:tr>
            </a:tbl>
          </a:graphicData>
        </a:graphic>
      </p:graphicFrame>
      <p:graphicFrame>
        <p:nvGraphicFramePr>
          <p:cNvPr id="10" name="Table 9">
            <a:extLst>
              <a:ext uri="{FF2B5EF4-FFF2-40B4-BE49-F238E27FC236}">
                <a16:creationId xmlns:a16="http://schemas.microsoft.com/office/drawing/2014/main" id="{9AA01E48-7037-74A0-3C0B-FA0C5E0A9E5B}"/>
              </a:ext>
            </a:extLst>
          </p:cNvPr>
          <p:cNvGraphicFramePr>
            <a:graphicFrameLocks noGrp="1"/>
          </p:cNvGraphicFramePr>
          <p:nvPr>
            <p:extLst>
              <p:ext uri="{D42A27DB-BD31-4B8C-83A1-F6EECF244321}">
                <p14:modId xmlns:p14="http://schemas.microsoft.com/office/powerpoint/2010/main" val="2581024328"/>
              </p:ext>
            </p:extLst>
          </p:nvPr>
        </p:nvGraphicFramePr>
        <p:xfrm>
          <a:off x="4582885" y="4724400"/>
          <a:ext cx="3298371" cy="2011680"/>
        </p:xfrm>
        <a:graphic>
          <a:graphicData uri="http://schemas.openxmlformats.org/drawingml/2006/table">
            <a:tbl>
              <a:tblPr/>
              <a:tblGrid>
                <a:gridCol w="3298371">
                  <a:extLst>
                    <a:ext uri="{9D8B030D-6E8A-4147-A177-3AD203B41FA5}">
                      <a16:colId xmlns:a16="http://schemas.microsoft.com/office/drawing/2014/main" val="1657477344"/>
                    </a:ext>
                  </a:extLst>
                </a:gridCol>
              </a:tblGrid>
              <a:tr h="1737360">
                <a:tc>
                  <a:txBody>
                    <a:bodyPr/>
                    <a:lstStyle/>
                    <a:p>
                      <a:r>
                        <a:rPr lang="en-US" dirty="0"/>
                        <a:t>AI Layer </a:t>
                      </a:r>
                    </a:p>
                    <a:p>
                      <a:r>
                        <a:rPr lang="en-US" dirty="0"/>
                        <a:t>Health Monitoring Agent </a:t>
                      </a:r>
                    </a:p>
                    <a:p>
                      <a:r>
                        <a:rPr lang="en-US" dirty="0"/>
                        <a:t>Emotional Analysis Agent </a:t>
                      </a:r>
                    </a:p>
                    <a:p>
                      <a:r>
                        <a:rPr lang="en-US" dirty="0"/>
                        <a:t>Voice Stress Detection Agent </a:t>
                      </a:r>
                    </a:p>
                    <a:p>
                      <a:r>
                        <a:rPr lang="en-US" dirty="0"/>
                        <a:t>Memory Support Agent </a:t>
                      </a:r>
                    </a:p>
                    <a:p>
                      <a:r>
                        <a:rPr lang="en-US" dirty="0"/>
                        <a:t>Caregiver Burnout Agent</a:t>
                      </a:r>
                    </a:p>
                    <a:p>
                      <a:endParaRPr lang="en-IN" dirty="0"/>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extLst>
                  <a:ext uri="{0D108BD9-81ED-4DB2-BD59-A6C34878D82A}">
                    <a16:rowId xmlns:a16="http://schemas.microsoft.com/office/drawing/2014/main" val="4026277664"/>
                  </a:ext>
                </a:extLst>
              </a:tr>
            </a:tbl>
          </a:graphicData>
        </a:graphic>
      </p:graphicFrame>
      <p:graphicFrame>
        <p:nvGraphicFramePr>
          <p:cNvPr id="11" name="Table 10">
            <a:extLst>
              <a:ext uri="{FF2B5EF4-FFF2-40B4-BE49-F238E27FC236}">
                <a16:creationId xmlns:a16="http://schemas.microsoft.com/office/drawing/2014/main" id="{5F13BFC0-983A-4C4A-7C94-FD3A18CC5E20}"/>
              </a:ext>
            </a:extLst>
          </p:cNvPr>
          <p:cNvGraphicFramePr>
            <a:graphicFrameLocks noGrp="1"/>
          </p:cNvGraphicFramePr>
          <p:nvPr>
            <p:extLst>
              <p:ext uri="{D42A27DB-BD31-4B8C-83A1-F6EECF244321}">
                <p14:modId xmlns:p14="http://schemas.microsoft.com/office/powerpoint/2010/main" val="718782002"/>
              </p:ext>
            </p:extLst>
          </p:nvPr>
        </p:nvGraphicFramePr>
        <p:xfrm>
          <a:off x="9176657" y="2166257"/>
          <a:ext cx="2329543" cy="4038600"/>
        </p:xfrm>
        <a:graphic>
          <a:graphicData uri="http://schemas.openxmlformats.org/drawingml/2006/table">
            <a:tbl>
              <a:tblPr/>
              <a:tblGrid>
                <a:gridCol w="2329543">
                  <a:extLst>
                    <a:ext uri="{9D8B030D-6E8A-4147-A177-3AD203B41FA5}">
                      <a16:colId xmlns:a16="http://schemas.microsoft.com/office/drawing/2014/main" val="1730861924"/>
                    </a:ext>
                  </a:extLst>
                </a:gridCol>
              </a:tblGrid>
              <a:tr h="4038600">
                <a:tc>
                  <a:txBody>
                    <a:bodyPr/>
                    <a:lstStyle/>
                    <a:p>
                      <a:r>
                        <a:rPr lang="en-US" dirty="0"/>
                        <a:t>Third-Party Integrations </a:t>
                      </a:r>
                    </a:p>
                    <a:p>
                      <a:r>
                        <a:rPr lang="en-US" dirty="0"/>
                        <a:t>Calendar API for appointments and medicine reminders </a:t>
                      </a:r>
                    </a:p>
                    <a:p>
                      <a:r>
                        <a:rPr lang="en-US" dirty="0"/>
                        <a:t>Music API for emotional wellness playlists </a:t>
                      </a:r>
                    </a:p>
                    <a:p>
                      <a:r>
                        <a:rPr lang="en-US" dirty="0"/>
                        <a:t>SMS / Email notification service </a:t>
                      </a:r>
                    </a:p>
                    <a:p>
                      <a:r>
                        <a:rPr lang="en-US" dirty="0"/>
                        <a:t>Video or phone call integration for family communication</a:t>
                      </a:r>
                    </a:p>
                    <a:p>
                      <a:endParaRPr lang="en-IN" dirty="0"/>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extLst>
                  <a:ext uri="{0D108BD9-81ED-4DB2-BD59-A6C34878D82A}">
                    <a16:rowId xmlns:a16="http://schemas.microsoft.com/office/drawing/2014/main" val="4047842919"/>
                  </a:ext>
                </a:extLst>
              </a:tr>
            </a:tbl>
          </a:graphicData>
        </a:graphic>
      </p:graphicFrame>
    </p:spTree>
    <p:extLst>
      <p:ext uri="{BB962C8B-B14F-4D97-AF65-F5344CB8AC3E}">
        <p14:creationId xmlns:p14="http://schemas.microsoft.com/office/powerpoint/2010/main" val="6963139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1081B4-DCB3-98E2-06A8-576EFC8065B7}"/>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9517783E-C433-A152-F467-61CD75CD353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6F1FA6C2-5A0A-1FF0-1EBE-5E203A16E6C1}"/>
              </a:ext>
            </a:extLst>
          </p:cNvPr>
          <p:cNvSpPr>
            <a:spLocks noGrp="1"/>
          </p:cNvSpPr>
          <p:nvPr>
            <p:ph type="ctrTitle"/>
          </p:nvPr>
        </p:nvSpPr>
        <p:spPr>
          <a:xfrm>
            <a:off x="1524000" y="651828"/>
            <a:ext cx="8621486" cy="1079001"/>
          </a:xfrm>
        </p:spPr>
        <p:txBody>
          <a:bodyPr/>
          <a:lstStyle/>
          <a:p>
            <a:r>
              <a:rPr lang="en-IN" b="1" dirty="0">
                <a:latin typeface="Montserrat" panose="00000500000000000000" pitchFamily="2" charset="0"/>
              </a:rPr>
              <a:t>Tech Stack</a:t>
            </a:r>
          </a:p>
        </p:txBody>
      </p:sp>
      <p:graphicFrame>
        <p:nvGraphicFramePr>
          <p:cNvPr id="5" name="Table 4">
            <a:extLst>
              <a:ext uri="{FF2B5EF4-FFF2-40B4-BE49-F238E27FC236}">
                <a16:creationId xmlns:a16="http://schemas.microsoft.com/office/drawing/2014/main" id="{08852490-BE10-2E7F-D9EF-D46D1329D243}"/>
              </a:ext>
            </a:extLst>
          </p:cNvPr>
          <p:cNvGraphicFramePr>
            <a:graphicFrameLocks noGrp="1"/>
          </p:cNvGraphicFramePr>
          <p:nvPr>
            <p:extLst>
              <p:ext uri="{D42A27DB-BD31-4B8C-83A1-F6EECF244321}">
                <p14:modId xmlns:p14="http://schemas.microsoft.com/office/powerpoint/2010/main" val="1314108301"/>
              </p:ext>
            </p:extLst>
          </p:nvPr>
        </p:nvGraphicFramePr>
        <p:xfrm>
          <a:off x="685800" y="1905000"/>
          <a:ext cx="2307772" cy="2286000"/>
        </p:xfrm>
        <a:graphic>
          <a:graphicData uri="http://schemas.openxmlformats.org/drawingml/2006/table">
            <a:tbl>
              <a:tblPr/>
              <a:tblGrid>
                <a:gridCol w="2307772">
                  <a:extLst>
                    <a:ext uri="{9D8B030D-6E8A-4147-A177-3AD203B41FA5}">
                      <a16:colId xmlns:a16="http://schemas.microsoft.com/office/drawing/2014/main" val="951191376"/>
                    </a:ext>
                  </a:extLst>
                </a:gridCol>
              </a:tblGrid>
              <a:tr h="1883229">
                <a:tc>
                  <a:txBody>
                    <a:bodyPr/>
                    <a:lstStyle/>
                    <a:p>
                      <a:r>
                        <a:rPr lang="en-US" b="1" dirty="0"/>
                        <a:t>Frontend</a:t>
                      </a:r>
                    </a:p>
                    <a:p>
                      <a:r>
                        <a:rPr lang="en-US" dirty="0"/>
                        <a:t>Next.js </a:t>
                      </a:r>
                    </a:p>
                    <a:p>
                      <a:r>
                        <a:rPr lang="en-US" dirty="0"/>
                        <a:t>React </a:t>
                      </a:r>
                    </a:p>
                    <a:p>
                      <a:r>
                        <a:rPr lang="en-US" dirty="0"/>
                        <a:t>Tailwind CSS </a:t>
                      </a:r>
                    </a:p>
                    <a:p>
                      <a:r>
                        <a:rPr lang="en-US" dirty="0"/>
                        <a:t>Framer Motion </a:t>
                      </a:r>
                    </a:p>
                    <a:p>
                      <a:r>
                        <a:rPr lang="en-US" dirty="0"/>
                        <a:t>Recharts </a:t>
                      </a:r>
                    </a:p>
                    <a:p>
                      <a:r>
                        <a:rPr lang="en-US" dirty="0" err="1"/>
                        <a:t>Lucide</a:t>
                      </a:r>
                      <a:endParaRPr lang="en-US" dirty="0"/>
                    </a:p>
                    <a:p>
                      <a:endParaRPr lang="en-IN" dirty="0"/>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extLst>
                  <a:ext uri="{0D108BD9-81ED-4DB2-BD59-A6C34878D82A}">
                    <a16:rowId xmlns:a16="http://schemas.microsoft.com/office/drawing/2014/main" val="1973460558"/>
                  </a:ext>
                </a:extLst>
              </a:tr>
            </a:tbl>
          </a:graphicData>
        </a:graphic>
      </p:graphicFrame>
      <p:graphicFrame>
        <p:nvGraphicFramePr>
          <p:cNvPr id="6" name="Table 5">
            <a:extLst>
              <a:ext uri="{FF2B5EF4-FFF2-40B4-BE49-F238E27FC236}">
                <a16:creationId xmlns:a16="http://schemas.microsoft.com/office/drawing/2014/main" id="{61D65376-50D4-3526-A797-F3FD123E969B}"/>
              </a:ext>
            </a:extLst>
          </p:cNvPr>
          <p:cNvGraphicFramePr>
            <a:graphicFrameLocks noGrp="1"/>
          </p:cNvGraphicFramePr>
          <p:nvPr>
            <p:extLst>
              <p:ext uri="{D42A27DB-BD31-4B8C-83A1-F6EECF244321}">
                <p14:modId xmlns:p14="http://schemas.microsoft.com/office/powerpoint/2010/main" val="1326780155"/>
              </p:ext>
            </p:extLst>
          </p:nvPr>
        </p:nvGraphicFramePr>
        <p:xfrm>
          <a:off x="3559629" y="2002971"/>
          <a:ext cx="2231571" cy="2011680"/>
        </p:xfrm>
        <a:graphic>
          <a:graphicData uri="http://schemas.openxmlformats.org/drawingml/2006/table">
            <a:tbl>
              <a:tblPr/>
              <a:tblGrid>
                <a:gridCol w="2231571">
                  <a:extLst>
                    <a:ext uri="{9D8B030D-6E8A-4147-A177-3AD203B41FA5}">
                      <a16:colId xmlns:a16="http://schemas.microsoft.com/office/drawing/2014/main" val="1676316598"/>
                    </a:ext>
                  </a:extLst>
                </a:gridCol>
              </a:tblGrid>
              <a:tr h="1926772">
                <a:tc>
                  <a:txBody>
                    <a:bodyPr/>
                    <a:lstStyle/>
                    <a:p>
                      <a:r>
                        <a:rPr lang="en-IN" b="1" dirty="0"/>
                        <a:t>Backend</a:t>
                      </a:r>
                    </a:p>
                    <a:p>
                      <a:r>
                        <a:rPr lang="en-IN" dirty="0"/>
                        <a:t>Node.js </a:t>
                      </a:r>
                    </a:p>
                    <a:p>
                      <a:r>
                        <a:rPr lang="en-IN" dirty="0"/>
                        <a:t>Express.js </a:t>
                      </a:r>
                    </a:p>
                    <a:p>
                      <a:r>
                        <a:rPr lang="en-IN" dirty="0"/>
                        <a:t>JWT </a:t>
                      </a:r>
                    </a:p>
                    <a:p>
                      <a:r>
                        <a:rPr lang="en-IN" dirty="0" err="1"/>
                        <a:t>bcrypt</a:t>
                      </a:r>
                      <a:r>
                        <a:rPr lang="en-IN" dirty="0"/>
                        <a:t> </a:t>
                      </a:r>
                    </a:p>
                    <a:p>
                      <a:r>
                        <a:rPr lang="en-IN" dirty="0"/>
                        <a:t>Socket.IO</a:t>
                      </a:r>
                    </a:p>
                    <a:p>
                      <a:endParaRPr lang="en-IN" dirty="0"/>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extLst>
                  <a:ext uri="{0D108BD9-81ED-4DB2-BD59-A6C34878D82A}">
                    <a16:rowId xmlns:a16="http://schemas.microsoft.com/office/drawing/2014/main" val="280067143"/>
                  </a:ext>
                </a:extLst>
              </a:tr>
            </a:tbl>
          </a:graphicData>
        </a:graphic>
      </p:graphicFrame>
      <p:graphicFrame>
        <p:nvGraphicFramePr>
          <p:cNvPr id="7" name="Table 6">
            <a:extLst>
              <a:ext uri="{FF2B5EF4-FFF2-40B4-BE49-F238E27FC236}">
                <a16:creationId xmlns:a16="http://schemas.microsoft.com/office/drawing/2014/main" id="{4F59C0FE-0F60-7192-39F3-AFE8578901A8}"/>
              </a:ext>
            </a:extLst>
          </p:cNvPr>
          <p:cNvGraphicFramePr>
            <a:graphicFrameLocks noGrp="1"/>
          </p:cNvGraphicFramePr>
          <p:nvPr>
            <p:extLst>
              <p:ext uri="{D42A27DB-BD31-4B8C-83A1-F6EECF244321}">
                <p14:modId xmlns:p14="http://schemas.microsoft.com/office/powerpoint/2010/main" val="3057668251"/>
              </p:ext>
            </p:extLst>
          </p:nvPr>
        </p:nvGraphicFramePr>
        <p:xfrm>
          <a:off x="6302829" y="2002971"/>
          <a:ext cx="1807028" cy="2394858"/>
        </p:xfrm>
        <a:graphic>
          <a:graphicData uri="http://schemas.openxmlformats.org/drawingml/2006/table">
            <a:tbl>
              <a:tblPr/>
              <a:tblGrid>
                <a:gridCol w="1807028">
                  <a:extLst>
                    <a:ext uri="{9D8B030D-6E8A-4147-A177-3AD203B41FA5}">
                      <a16:colId xmlns:a16="http://schemas.microsoft.com/office/drawing/2014/main" val="3332236284"/>
                    </a:ext>
                  </a:extLst>
                </a:gridCol>
              </a:tblGrid>
              <a:tr h="2394858">
                <a:tc>
                  <a:txBody>
                    <a:bodyPr/>
                    <a:lstStyle/>
                    <a:p>
                      <a:r>
                        <a:rPr lang="en-IN" b="1" dirty="0"/>
                        <a:t>AI &amp; Analytics</a:t>
                      </a:r>
                    </a:p>
                    <a:p>
                      <a:r>
                        <a:rPr lang="en-IN" dirty="0"/>
                        <a:t>TensorFlow </a:t>
                      </a:r>
                    </a:p>
                    <a:p>
                      <a:r>
                        <a:rPr lang="en-IN" dirty="0" err="1"/>
                        <a:t>OpenAI</a:t>
                      </a:r>
                      <a:r>
                        <a:rPr lang="en-IN" dirty="0"/>
                        <a:t> API </a:t>
                      </a:r>
                    </a:p>
                    <a:p>
                      <a:r>
                        <a:rPr lang="en-IN" dirty="0"/>
                        <a:t>Python </a:t>
                      </a: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extLst>
                  <a:ext uri="{0D108BD9-81ED-4DB2-BD59-A6C34878D82A}">
                    <a16:rowId xmlns:a16="http://schemas.microsoft.com/office/drawing/2014/main" val="170037304"/>
                  </a:ext>
                </a:extLst>
              </a:tr>
            </a:tbl>
          </a:graphicData>
        </a:graphic>
      </p:graphicFrame>
      <p:graphicFrame>
        <p:nvGraphicFramePr>
          <p:cNvPr id="8" name="Table 7">
            <a:extLst>
              <a:ext uri="{FF2B5EF4-FFF2-40B4-BE49-F238E27FC236}">
                <a16:creationId xmlns:a16="http://schemas.microsoft.com/office/drawing/2014/main" id="{184E2CB7-8EE1-E158-EFFE-FDE4A7AD9DEF}"/>
              </a:ext>
            </a:extLst>
          </p:cNvPr>
          <p:cNvGraphicFramePr>
            <a:graphicFrameLocks noGrp="1"/>
          </p:cNvGraphicFramePr>
          <p:nvPr>
            <p:extLst>
              <p:ext uri="{D42A27DB-BD31-4B8C-83A1-F6EECF244321}">
                <p14:modId xmlns:p14="http://schemas.microsoft.com/office/powerpoint/2010/main" val="3464763589"/>
              </p:ext>
            </p:extLst>
          </p:nvPr>
        </p:nvGraphicFramePr>
        <p:xfrm>
          <a:off x="8469086" y="2002972"/>
          <a:ext cx="3254828" cy="3015342"/>
        </p:xfrm>
        <a:graphic>
          <a:graphicData uri="http://schemas.openxmlformats.org/drawingml/2006/table">
            <a:tbl>
              <a:tblPr/>
              <a:tblGrid>
                <a:gridCol w="3254828">
                  <a:extLst>
                    <a:ext uri="{9D8B030D-6E8A-4147-A177-3AD203B41FA5}">
                      <a16:colId xmlns:a16="http://schemas.microsoft.com/office/drawing/2014/main" val="1029855435"/>
                    </a:ext>
                  </a:extLst>
                </a:gridCol>
              </a:tblGrid>
              <a:tr h="3015342">
                <a:tc>
                  <a:txBody>
                    <a:bodyPr/>
                    <a:lstStyle/>
                    <a:p>
                      <a:r>
                        <a:rPr lang="en-US" b="1" dirty="0"/>
                        <a:t>APIs &amp; Integrations</a:t>
                      </a:r>
                    </a:p>
                    <a:p>
                      <a:r>
                        <a:rPr lang="en-US" dirty="0"/>
                        <a:t>Twilio for calls and SMS </a:t>
                      </a:r>
                    </a:p>
                    <a:p>
                      <a:r>
                        <a:rPr lang="en-US" dirty="0"/>
                        <a:t>Google Calendar API </a:t>
                      </a:r>
                    </a:p>
                    <a:p>
                      <a:r>
                        <a:rPr lang="en-US" dirty="0"/>
                        <a:t>Spotify API</a:t>
                      </a:r>
                    </a:p>
                    <a:p>
                      <a:endParaRPr lang="en-IN" dirty="0"/>
                    </a:p>
                    <a:p>
                      <a:r>
                        <a:rPr lang="en-IN" b="1" dirty="0"/>
                        <a:t>Deployment</a:t>
                      </a:r>
                    </a:p>
                    <a:p>
                      <a:r>
                        <a:rPr lang="en-IN" dirty="0" err="1"/>
                        <a:t>Vercel</a:t>
                      </a:r>
                      <a:endParaRPr lang="en-IN" dirty="0"/>
                    </a:p>
                    <a:p>
                      <a:endParaRPr lang="en-IN" dirty="0"/>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extLst>
                  <a:ext uri="{0D108BD9-81ED-4DB2-BD59-A6C34878D82A}">
                    <a16:rowId xmlns:a16="http://schemas.microsoft.com/office/drawing/2014/main" val="1322351834"/>
                  </a:ext>
                </a:extLst>
              </a:tr>
            </a:tbl>
          </a:graphicData>
        </a:graphic>
      </p:graphicFrame>
    </p:spTree>
    <p:extLst>
      <p:ext uri="{BB962C8B-B14F-4D97-AF65-F5344CB8AC3E}">
        <p14:creationId xmlns:p14="http://schemas.microsoft.com/office/powerpoint/2010/main" val="21486831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551831-6846-427E-64BB-101402158845}"/>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9E831684-E944-D21A-AEB7-C0CD0756840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E2931271-7B83-E6B0-4697-A9B3A4A0B3E0}"/>
              </a:ext>
            </a:extLst>
          </p:cNvPr>
          <p:cNvSpPr>
            <a:spLocks noGrp="1"/>
          </p:cNvSpPr>
          <p:nvPr>
            <p:ph type="ctrTitle"/>
          </p:nvPr>
        </p:nvSpPr>
        <p:spPr>
          <a:xfrm>
            <a:off x="1524000" y="651828"/>
            <a:ext cx="8708571" cy="1057229"/>
          </a:xfrm>
        </p:spPr>
        <p:txBody>
          <a:bodyPr/>
          <a:lstStyle/>
          <a:p>
            <a:r>
              <a:rPr lang="en-IN" b="1" dirty="0">
                <a:latin typeface="Montserrat" panose="00000500000000000000" pitchFamily="2" charset="0"/>
              </a:rPr>
              <a:t>Workflow</a:t>
            </a:r>
          </a:p>
        </p:txBody>
      </p:sp>
      <p:sp>
        <p:nvSpPr>
          <p:cNvPr id="3" name="Subtitle 2">
            <a:extLst>
              <a:ext uri="{FF2B5EF4-FFF2-40B4-BE49-F238E27FC236}">
                <a16:creationId xmlns:a16="http://schemas.microsoft.com/office/drawing/2014/main" id="{E9F3AC6F-97B4-C038-5116-BCDB0E747F31}"/>
              </a:ext>
            </a:extLst>
          </p:cNvPr>
          <p:cNvSpPr>
            <a:spLocks noGrp="1"/>
          </p:cNvSpPr>
          <p:nvPr>
            <p:ph type="subTitle" idx="1"/>
          </p:nvPr>
        </p:nvSpPr>
        <p:spPr>
          <a:xfrm>
            <a:off x="979714" y="1491343"/>
            <a:ext cx="9688286" cy="4484914"/>
          </a:xfrm>
        </p:spPr>
        <p:txBody>
          <a:bodyPr>
            <a:normAutofit fontScale="92500"/>
          </a:bodyPr>
          <a:lstStyle/>
          <a:p>
            <a:pPr algn="just"/>
            <a:r>
              <a:rPr lang="en-US" b="1" dirty="0" err="1"/>
              <a:t>IdolCare</a:t>
            </a:r>
            <a:r>
              <a:rPr lang="en-US" b="1" dirty="0"/>
              <a:t> AI Workflow</a:t>
            </a:r>
          </a:p>
          <a:p>
            <a:pPr algn="just">
              <a:buFont typeface="+mj-lt"/>
              <a:buAutoNum type="arabicPeriod"/>
            </a:pPr>
            <a:r>
              <a:rPr lang="en-US" dirty="0"/>
              <a:t>User logs in and creates profiles for elderly family members </a:t>
            </a:r>
          </a:p>
          <a:p>
            <a:pPr algn="just">
              <a:buFont typeface="+mj-lt"/>
              <a:buAutoNum type="arabicPeriod"/>
            </a:pPr>
            <a:r>
              <a:rPr lang="en-US" dirty="0"/>
              <a:t>Health data like heart rate, sleep, hydration, mood, and medication is collected </a:t>
            </a:r>
          </a:p>
          <a:p>
            <a:pPr algn="just">
              <a:buFont typeface="+mj-lt"/>
              <a:buAutoNum type="arabicPeriod"/>
            </a:pPr>
            <a:r>
              <a:rPr lang="en-US" dirty="0"/>
              <a:t>AI analyzes the data to detect risks, stress, routine changes, or missed medicines </a:t>
            </a:r>
          </a:p>
          <a:p>
            <a:pPr algn="just">
              <a:buFont typeface="+mj-lt"/>
              <a:buAutoNum type="arabicPeriod"/>
            </a:pPr>
            <a:r>
              <a:rPr lang="en-US" dirty="0"/>
              <a:t>Dashboard updates health status using Formula 1-style indicators like fuel, engine health, and pit stop alerts </a:t>
            </a:r>
          </a:p>
          <a:p>
            <a:pPr algn="just">
              <a:buFont typeface="+mj-lt"/>
              <a:buAutoNum type="arabicPeriod"/>
            </a:pPr>
            <a:r>
              <a:rPr lang="en-US" dirty="0"/>
              <a:t>Family members receive real-time notifications and recommendations </a:t>
            </a:r>
          </a:p>
          <a:p>
            <a:pPr algn="just">
              <a:buFont typeface="+mj-lt"/>
              <a:buAutoNum type="arabicPeriod"/>
            </a:pPr>
            <a:r>
              <a:rPr lang="en-US" dirty="0"/>
              <a:t>Users can access calendar reminders, phone calls, music, photos, and memory notes </a:t>
            </a:r>
          </a:p>
          <a:p>
            <a:pPr algn="just">
              <a:buFont typeface="+mj-lt"/>
              <a:buAutoNum type="arabicPeriod"/>
            </a:pPr>
            <a:r>
              <a:rPr lang="en-US" dirty="0"/>
              <a:t>Weekly reports and health insights are generated for families and caregivers</a:t>
            </a:r>
          </a:p>
          <a:p>
            <a:pPr algn="just"/>
            <a:endParaRPr lang="en-US" dirty="0"/>
          </a:p>
        </p:txBody>
      </p:sp>
    </p:spTree>
    <p:extLst>
      <p:ext uri="{BB962C8B-B14F-4D97-AF65-F5344CB8AC3E}">
        <p14:creationId xmlns:p14="http://schemas.microsoft.com/office/powerpoint/2010/main" val="7211360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D2F5D3-4344-4362-805C-8F963B27804A}"/>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03FB6C13-3B8B-52D8-104D-1E08E396ADE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08824925-7E47-111A-5B2A-714F7E54B7D0}"/>
              </a:ext>
            </a:extLst>
          </p:cNvPr>
          <p:cNvSpPr>
            <a:spLocks noGrp="1"/>
          </p:cNvSpPr>
          <p:nvPr>
            <p:ph type="ctrTitle"/>
          </p:nvPr>
        </p:nvSpPr>
        <p:spPr>
          <a:xfrm>
            <a:off x="1524000" y="651828"/>
            <a:ext cx="9144000" cy="1350010"/>
          </a:xfrm>
        </p:spPr>
        <p:txBody>
          <a:bodyPr/>
          <a:lstStyle/>
          <a:p>
            <a:r>
              <a:rPr lang="en-IN" b="1" dirty="0">
                <a:latin typeface="Montserrat" panose="00000500000000000000" pitchFamily="2" charset="0"/>
              </a:rPr>
              <a:t>Impact</a:t>
            </a:r>
          </a:p>
        </p:txBody>
      </p:sp>
      <p:sp>
        <p:nvSpPr>
          <p:cNvPr id="3" name="Subtitle 2">
            <a:extLst>
              <a:ext uri="{FF2B5EF4-FFF2-40B4-BE49-F238E27FC236}">
                <a16:creationId xmlns:a16="http://schemas.microsoft.com/office/drawing/2014/main" id="{87292949-4812-3723-5970-052C9D70C07D}"/>
              </a:ext>
            </a:extLst>
          </p:cNvPr>
          <p:cNvSpPr>
            <a:spLocks noGrp="1"/>
          </p:cNvSpPr>
          <p:nvPr>
            <p:ph type="subTitle" idx="1"/>
          </p:nvPr>
        </p:nvSpPr>
        <p:spPr>
          <a:xfrm>
            <a:off x="1110343" y="2653666"/>
            <a:ext cx="9557657" cy="2604134"/>
          </a:xfrm>
        </p:spPr>
        <p:txBody>
          <a:bodyPr>
            <a:normAutofit fontScale="77500" lnSpcReduction="20000"/>
          </a:bodyPr>
          <a:lstStyle/>
          <a:p>
            <a:pPr algn="just">
              <a:buFont typeface="Arial" panose="020B0604020202020204" pitchFamily="34" charset="0"/>
              <a:buChar char="•"/>
            </a:pPr>
            <a:r>
              <a:rPr lang="en-US" dirty="0"/>
              <a:t>Helps families monitor elderly loved ones remotely and reduce anxiety </a:t>
            </a:r>
          </a:p>
          <a:p>
            <a:pPr algn="just">
              <a:buFont typeface="Arial" panose="020B0604020202020204" pitchFamily="34" charset="0"/>
              <a:buChar char="•"/>
            </a:pPr>
            <a:r>
              <a:rPr lang="en-US" dirty="0"/>
              <a:t>Detects health risks, emotional stress, and missed medications early </a:t>
            </a:r>
          </a:p>
          <a:p>
            <a:pPr algn="just">
              <a:buFont typeface="Arial" panose="020B0604020202020204" pitchFamily="34" charset="0"/>
              <a:buChar char="•"/>
            </a:pPr>
            <a:r>
              <a:rPr lang="en-US" dirty="0"/>
              <a:t>Improves communication between elderly users, families, and caregivers </a:t>
            </a:r>
          </a:p>
          <a:p>
            <a:pPr algn="just">
              <a:buFont typeface="Arial" panose="020B0604020202020204" pitchFamily="34" charset="0"/>
              <a:buChar char="•"/>
            </a:pPr>
            <a:r>
              <a:rPr lang="en-US" dirty="0"/>
              <a:t>Reduces caregiver burnout through alerts and support features </a:t>
            </a:r>
          </a:p>
          <a:p>
            <a:pPr algn="just">
              <a:buFont typeface="Arial" panose="020B0604020202020204" pitchFamily="34" charset="0"/>
              <a:buChar char="•"/>
            </a:pPr>
            <a:r>
              <a:rPr lang="en-US" dirty="0"/>
              <a:t>Encourages better emotional wellness using music, memories, and family interaction </a:t>
            </a:r>
          </a:p>
          <a:p>
            <a:pPr algn="just">
              <a:buFont typeface="Arial" panose="020B0604020202020204" pitchFamily="34" charset="0"/>
              <a:buChar char="•"/>
            </a:pPr>
            <a:r>
              <a:rPr lang="en-US" dirty="0"/>
              <a:t>Makes healthcare monitoring more engaging through a Formula 1-inspired dashboard </a:t>
            </a:r>
          </a:p>
          <a:p>
            <a:pPr algn="just">
              <a:buFont typeface="Arial" panose="020B0604020202020204" pitchFamily="34" charset="0"/>
              <a:buChar char="•"/>
            </a:pPr>
            <a:r>
              <a:rPr lang="en-US" dirty="0"/>
              <a:t>Supports faster decision-making during emergencies </a:t>
            </a:r>
          </a:p>
          <a:p>
            <a:pPr algn="just">
              <a:buFont typeface="Arial" panose="020B0604020202020204" pitchFamily="34" charset="0"/>
              <a:buChar char="•"/>
            </a:pPr>
            <a:r>
              <a:rPr lang="en-US" dirty="0"/>
              <a:t>Improves quality of life, safety, and independence for elderly users </a:t>
            </a:r>
          </a:p>
          <a:p>
            <a:pPr algn="just"/>
            <a:endParaRPr lang="en-US" dirty="0"/>
          </a:p>
        </p:txBody>
      </p:sp>
    </p:spTree>
    <p:extLst>
      <p:ext uri="{BB962C8B-B14F-4D97-AF65-F5344CB8AC3E}">
        <p14:creationId xmlns:p14="http://schemas.microsoft.com/office/powerpoint/2010/main" val="20012451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9A0058-2A1B-9A2D-4ACF-404877CEEC9C}"/>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69AED9E8-8E9E-772E-A148-23AF520FE61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EF38C520-B6A8-E5A5-6C12-E50EB51E1C3E}"/>
              </a:ext>
            </a:extLst>
          </p:cNvPr>
          <p:cNvSpPr>
            <a:spLocks noGrp="1"/>
          </p:cNvSpPr>
          <p:nvPr>
            <p:ph type="ctrTitle"/>
          </p:nvPr>
        </p:nvSpPr>
        <p:spPr>
          <a:xfrm>
            <a:off x="1524000" y="651828"/>
            <a:ext cx="8556171" cy="1100772"/>
          </a:xfrm>
        </p:spPr>
        <p:txBody>
          <a:bodyPr/>
          <a:lstStyle/>
          <a:p>
            <a:r>
              <a:rPr lang="en-IN" b="1" dirty="0">
                <a:latin typeface="Montserrat" panose="00000500000000000000" pitchFamily="2" charset="0"/>
              </a:rPr>
              <a:t>Future Scope</a:t>
            </a:r>
          </a:p>
        </p:txBody>
      </p:sp>
      <p:sp>
        <p:nvSpPr>
          <p:cNvPr id="5" name="Rectangle 1">
            <a:extLst>
              <a:ext uri="{FF2B5EF4-FFF2-40B4-BE49-F238E27FC236}">
                <a16:creationId xmlns:a16="http://schemas.microsoft.com/office/drawing/2014/main" id="{EBC2C2B9-5C61-A017-1399-632ECDB7BBA3}"/>
              </a:ext>
            </a:extLst>
          </p:cNvPr>
          <p:cNvSpPr>
            <a:spLocks noGrp="1" noChangeArrowheads="1"/>
          </p:cNvSpPr>
          <p:nvPr>
            <p:ph type="subTitle" idx="1"/>
          </p:nvPr>
        </p:nvSpPr>
        <p:spPr bwMode="auto">
          <a:xfrm>
            <a:off x="903288" y="2079625"/>
            <a:ext cx="9764712" cy="3178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Multilingual AI Chatbot Integration</a:t>
            </a:r>
            <a:r>
              <a:rPr kumimoji="0" lang="en-US" altLang="en-US" sz="1800" b="0" i="0" u="none" strike="noStrike" cap="none" normalizeH="0" baseline="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Support </a:t>
            </a:r>
            <a:r>
              <a:rPr kumimoji="0" lang="en-US" altLang="en-US" sz="1800" b="1" i="0" u="none" strike="noStrike" cap="none" normalizeH="0" baseline="0">
                <a:ln>
                  <a:noFill/>
                </a:ln>
                <a:solidFill>
                  <a:schemeClr val="tx1"/>
                </a:solidFill>
                <a:effectLst/>
                <a:latin typeface="Arial" panose="020B0604020202020204" pitchFamily="34" charset="0"/>
              </a:rPr>
              <a:t>multiple languages</a:t>
            </a:r>
            <a:r>
              <a:rPr kumimoji="0" lang="en-US" altLang="en-US" sz="1800" b="0" i="0" u="none" strike="noStrike" cap="none" normalizeH="0" baseline="0">
                <a:ln>
                  <a:noFill/>
                </a:ln>
                <a:solidFill>
                  <a:schemeClr val="tx1"/>
                </a:solidFill>
                <a:effectLst/>
                <a:latin typeface="Arial" panose="020B0604020202020204" pitchFamily="34" charset="0"/>
              </a:rPr>
              <a:t> for global and regional reach.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Adaptive responses using </a:t>
            </a:r>
            <a:r>
              <a:rPr kumimoji="0" lang="en-US" altLang="en-US" sz="1800" b="1" i="0" u="none" strike="noStrike" cap="none" normalizeH="0" baseline="0">
                <a:ln>
                  <a:noFill/>
                </a:ln>
                <a:solidFill>
                  <a:schemeClr val="tx1"/>
                </a:solidFill>
                <a:effectLst/>
                <a:latin typeface="Arial" panose="020B0604020202020204" pitchFamily="34" charset="0"/>
              </a:rPr>
              <a:t>AI NLP</a:t>
            </a:r>
            <a:r>
              <a:rPr kumimoji="0" lang="en-US" altLang="en-US" sz="1800" b="0" i="0" u="none" strike="noStrike" cap="none" normalizeH="0" baseline="0">
                <a:ln>
                  <a:noFill/>
                </a:ln>
                <a:solidFill>
                  <a:schemeClr val="tx1"/>
                </a:solidFill>
                <a:effectLst/>
                <a:latin typeface="Arial" panose="020B0604020202020204" pitchFamily="34" charset="0"/>
              </a:rPr>
              <a:t> for health guidance, mental wellness, and lifestyle coaching.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Voice Interaction &amp; Accessibility</a:t>
            </a:r>
            <a:r>
              <a:rPr kumimoji="0" lang="en-US" altLang="en-US" sz="1800" b="0" i="0" u="none" strike="noStrike" cap="none" normalizeH="0" baseline="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Enable </a:t>
            </a:r>
            <a:r>
              <a:rPr kumimoji="0" lang="en-US" altLang="en-US" sz="1800" b="1" i="0" u="none" strike="noStrike" cap="none" normalizeH="0" baseline="0">
                <a:ln>
                  <a:noFill/>
                </a:ln>
                <a:solidFill>
                  <a:schemeClr val="tx1"/>
                </a:solidFill>
                <a:effectLst/>
                <a:latin typeface="Arial" panose="020B0604020202020204" pitchFamily="34" charset="0"/>
              </a:rPr>
              <a:t>voice-based queries</a:t>
            </a:r>
            <a:r>
              <a:rPr kumimoji="0" lang="en-US" altLang="en-US" sz="1800" b="0" i="0" u="none" strike="noStrike" cap="none" normalizeH="0" baseline="0">
                <a:ln>
                  <a:noFill/>
                </a:ln>
                <a:solidFill>
                  <a:schemeClr val="tx1"/>
                </a:solidFill>
                <a:effectLst/>
                <a:latin typeface="Arial" panose="020B0604020202020204" pitchFamily="34" charset="0"/>
              </a:rPr>
              <a:t> for hands-free, intuitive use.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Assist </a:t>
            </a:r>
            <a:r>
              <a:rPr kumimoji="0" lang="en-US" altLang="en-US" sz="1800" b="1" i="0" u="none" strike="noStrike" cap="none" normalizeH="0" baseline="0">
                <a:ln>
                  <a:noFill/>
                </a:ln>
                <a:solidFill>
                  <a:schemeClr val="tx1"/>
                </a:solidFill>
                <a:effectLst/>
                <a:latin typeface="Arial" panose="020B0604020202020204" pitchFamily="34" charset="0"/>
              </a:rPr>
              <a:t>elderly or low-literacy users</a:t>
            </a:r>
            <a:r>
              <a:rPr kumimoji="0" lang="en-US" altLang="en-US" sz="1800" b="0" i="0" u="none" strike="noStrike" cap="none" normalizeH="0" baseline="0">
                <a:ln>
                  <a:noFill/>
                </a:ln>
                <a:solidFill>
                  <a:schemeClr val="tx1"/>
                </a:solidFill>
                <a:effectLst/>
                <a:latin typeface="Arial" panose="020B0604020202020204" pitchFamily="34" charset="0"/>
              </a:rPr>
              <a:t> effectively.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Third-Party Website &amp; Service Integration</a:t>
            </a:r>
            <a:r>
              <a:rPr kumimoji="0" lang="en-US" altLang="en-US" sz="1800" b="0" i="0" u="none" strike="noStrike" cap="none" normalizeH="0" baseline="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Connect with </a:t>
            </a:r>
            <a:r>
              <a:rPr kumimoji="0" lang="en-US" altLang="en-US" sz="1800" b="1" i="0" u="none" strike="noStrike" cap="none" normalizeH="0" baseline="0">
                <a:ln>
                  <a:noFill/>
                </a:ln>
                <a:solidFill>
                  <a:schemeClr val="tx1"/>
                </a:solidFill>
                <a:effectLst/>
                <a:latin typeface="Arial" panose="020B0604020202020204" pitchFamily="34" charset="0"/>
              </a:rPr>
              <a:t>telemedicine platforms, pharmacies, insurance portals, fitness apps</a:t>
            </a:r>
            <a:r>
              <a:rPr kumimoji="0" lang="en-US" altLang="en-US" sz="1800" b="0" i="0" u="none" strike="noStrike" cap="none" normalizeH="0" baseline="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Provide a </a:t>
            </a:r>
            <a:r>
              <a:rPr kumimoji="0" lang="en-US" altLang="en-US" sz="1800" b="1" i="0" u="none" strike="noStrike" cap="none" normalizeH="0" baseline="0">
                <a:ln>
                  <a:noFill/>
                </a:ln>
                <a:solidFill>
                  <a:schemeClr val="tx1"/>
                </a:solidFill>
                <a:effectLst/>
                <a:latin typeface="Arial" panose="020B0604020202020204" pitchFamily="34" charset="0"/>
              </a:rPr>
              <a:t>seamless ecosystem</a:t>
            </a:r>
            <a:r>
              <a:rPr kumimoji="0" lang="en-US" altLang="en-US" sz="1800" b="0" i="0" u="none" strike="noStrike" cap="none" normalizeH="0" baseline="0">
                <a:ln>
                  <a:noFill/>
                </a:ln>
                <a:solidFill>
                  <a:schemeClr val="tx1"/>
                </a:solidFill>
                <a:effectLst/>
                <a:latin typeface="Arial" panose="020B0604020202020204" pitchFamily="34" charset="0"/>
              </a:rPr>
              <a:t> for health tracking, booking, and personalized recommendations.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6246772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5C9BC0-B449-3880-DCF1-3623A9429386}"/>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F3C3DCD4-1187-52B4-EA97-0B89E26E6D8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934" y="0"/>
            <a:ext cx="12192000" cy="6858000"/>
          </a:xfrm>
          <a:prstGeom prst="rect">
            <a:avLst/>
          </a:prstGeom>
        </p:spPr>
      </p:pic>
      <p:sp>
        <p:nvSpPr>
          <p:cNvPr id="2" name="Title 1">
            <a:extLst>
              <a:ext uri="{FF2B5EF4-FFF2-40B4-BE49-F238E27FC236}">
                <a16:creationId xmlns:a16="http://schemas.microsoft.com/office/drawing/2014/main" id="{BCC69965-D790-CADB-8E84-39390523C4C1}"/>
              </a:ext>
            </a:extLst>
          </p:cNvPr>
          <p:cNvSpPr>
            <a:spLocks noGrp="1"/>
          </p:cNvSpPr>
          <p:nvPr>
            <p:ph type="ctrTitle"/>
          </p:nvPr>
        </p:nvSpPr>
        <p:spPr>
          <a:xfrm>
            <a:off x="1524000" y="651828"/>
            <a:ext cx="9144000" cy="2387600"/>
          </a:xfrm>
        </p:spPr>
        <p:txBody>
          <a:bodyPr/>
          <a:lstStyle/>
          <a:p>
            <a:r>
              <a:rPr lang="en-IN" b="1" dirty="0">
                <a:latin typeface="Montserrat" panose="00000500000000000000" pitchFamily="2" charset="0"/>
              </a:rPr>
              <a:t>Team Info</a:t>
            </a:r>
          </a:p>
        </p:txBody>
      </p:sp>
      <p:sp>
        <p:nvSpPr>
          <p:cNvPr id="6" name="Rectangle 2">
            <a:extLst>
              <a:ext uri="{FF2B5EF4-FFF2-40B4-BE49-F238E27FC236}">
                <a16:creationId xmlns:a16="http://schemas.microsoft.com/office/drawing/2014/main" id="{B8A35DE3-EB13-2BDB-C6EF-256EC4ACC713}"/>
              </a:ext>
            </a:extLst>
          </p:cNvPr>
          <p:cNvSpPr>
            <a:spLocks noGrp="1" noChangeArrowheads="1"/>
          </p:cNvSpPr>
          <p:nvPr>
            <p:ph type="subTitle" idx="1"/>
          </p:nvPr>
        </p:nvSpPr>
        <p:spPr bwMode="auto">
          <a:xfrm>
            <a:off x="5127625" y="3655638"/>
            <a:ext cx="2720975" cy="18446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l"/>
            <a:r>
              <a:rPr lang="en-US" sz="1800" b="1" dirty="0">
                <a:latin typeface="Open sans" panose="020B0606030504020204" pitchFamily="34" charset="0"/>
                <a:ea typeface="Open sans" panose="020B0606030504020204" pitchFamily="34" charset="0"/>
                <a:cs typeface="Open sans" panose="020B0606030504020204" pitchFamily="34" charset="0"/>
              </a:rPr>
              <a:t>Member 1: Chaitra D Murthy, Team Lead</a:t>
            </a:r>
            <a:endParaRPr lang="en-US" sz="1800" dirty="0">
              <a:latin typeface="Open sans" panose="020B0606030504020204" pitchFamily="34" charset="0"/>
              <a:ea typeface="Open sans" panose="020B0606030504020204" pitchFamily="34" charset="0"/>
              <a:cs typeface="Open sans" panose="020B0606030504020204" pitchFamily="34" charset="0"/>
            </a:endParaRPr>
          </a:p>
          <a:p>
            <a:pPr algn="l"/>
            <a:r>
              <a:rPr lang="en-US" sz="1800" b="1" dirty="0">
                <a:latin typeface="Open sans" panose="020B0606030504020204" pitchFamily="34" charset="0"/>
                <a:ea typeface="Open sans" panose="020B0606030504020204" pitchFamily="34" charset="0"/>
                <a:cs typeface="Open sans" panose="020B0606030504020204" pitchFamily="34" charset="0"/>
              </a:rPr>
              <a:t>Member 2: </a:t>
            </a:r>
            <a:r>
              <a:rPr lang="en-US" sz="1800" b="1" dirty="0" err="1">
                <a:latin typeface="Open sans" panose="020B0606030504020204" pitchFamily="34" charset="0"/>
                <a:ea typeface="Open sans" panose="020B0606030504020204" pitchFamily="34" charset="0"/>
                <a:cs typeface="Open sans" panose="020B0606030504020204" pitchFamily="34" charset="0"/>
              </a:rPr>
              <a:t>Keerthana</a:t>
            </a:r>
            <a:r>
              <a:rPr lang="en-US" sz="1800" b="1" dirty="0">
                <a:latin typeface="Open sans" panose="020B0606030504020204" pitchFamily="34" charset="0"/>
                <a:ea typeface="Open sans" panose="020B0606030504020204" pitchFamily="34" charset="0"/>
                <a:cs typeface="Open sans" panose="020B0606030504020204" pitchFamily="34" charset="0"/>
              </a:rPr>
              <a:t> A P,  AI integration</a:t>
            </a:r>
          </a:p>
          <a:p>
            <a:pPr algn="l"/>
            <a:r>
              <a:rPr lang="en-US" sz="1800" b="1" dirty="0">
                <a:latin typeface="Open sans" panose="020B0606030504020204" pitchFamily="34" charset="0"/>
                <a:ea typeface="Open sans" panose="020B0606030504020204" pitchFamily="34" charset="0"/>
                <a:cs typeface="Open sans" panose="020B0606030504020204" pitchFamily="34" charset="0"/>
              </a:rPr>
              <a:t>Member 3: </a:t>
            </a:r>
            <a:r>
              <a:rPr lang="en-US" sz="1800" b="1" dirty="0" err="1">
                <a:latin typeface="Open sans" panose="020B0606030504020204" pitchFamily="34" charset="0"/>
                <a:ea typeface="Open sans" panose="020B0606030504020204" pitchFamily="34" charset="0"/>
                <a:cs typeface="Open sans" panose="020B0606030504020204" pitchFamily="34" charset="0"/>
              </a:rPr>
              <a:t>Sindhuja</a:t>
            </a:r>
            <a:r>
              <a:rPr lang="en-US" sz="1800" b="1" dirty="0">
                <a:latin typeface="Open sans" panose="020B0606030504020204" pitchFamily="34" charset="0"/>
                <a:ea typeface="Open sans" panose="020B0606030504020204" pitchFamily="34" charset="0"/>
                <a:cs typeface="Open sans" panose="020B0606030504020204" pitchFamily="34" charset="0"/>
              </a:rPr>
              <a:t> R, PPT</a:t>
            </a:r>
            <a:endParaRPr lang="en-US" sz="1800" dirty="0">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213536704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54</TotalTime>
  <Words>1299</Words>
  <Application>Microsoft Office PowerPoint</Application>
  <PresentationFormat>Widescreen</PresentationFormat>
  <Paragraphs>141</Paragraphs>
  <Slides>13</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Arial</vt:lpstr>
      <vt:lpstr>Calibri</vt:lpstr>
      <vt:lpstr>Calibri Light</vt:lpstr>
      <vt:lpstr>Montserrat</vt:lpstr>
      <vt:lpstr>Open sans</vt:lpstr>
      <vt:lpstr>Office Theme</vt:lpstr>
      <vt:lpstr>Title</vt:lpstr>
      <vt:lpstr>Problem Statement</vt:lpstr>
      <vt:lpstr>Target Audience</vt:lpstr>
      <vt:lpstr>Existing Solutions</vt:lpstr>
      <vt:lpstr>Gaps &amp; Opportunities</vt:lpstr>
      <vt:lpstr>Your Solution</vt:lpstr>
      <vt:lpstr>Key Features</vt:lpstr>
      <vt:lpstr>System Architecture</vt:lpstr>
      <vt:lpstr>Tech Stack</vt:lpstr>
      <vt:lpstr>Workflow</vt:lpstr>
      <vt:lpstr>Impact</vt:lpstr>
      <vt:lpstr>Future Scope</vt:lpstr>
      <vt:lpstr>Team Info</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dc:title>
  <dc:creator>S Pranav</dc:creator>
  <cp:lastModifiedBy>Chaitra D murthy</cp:lastModifiedBy>
  <cp:revision>25</cp:revision>
  <dcterms:created xsi:type="dcterms:W3CDTF">2026-04-04T11:36:02Z</dcterms:created>
  <dcterms:modified xsi:type="dcterms:W3CDTF">2026-04-06T09:17:59Z</dcterms:modified>
</cp:coreProperties>
</file>